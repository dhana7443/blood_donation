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1" r:id="rId2"/>
    <p:sldId id="2622" r:id="rId3"/>
    <p:sldId id="2628" r:id="rId4"/>
    <p:sldId id="2605" r:id="rId5"/>
    <p:sldId id="2625" r:id="rId6"/>
    <p:sldId id="2591" r:id="rId7"/>
    <p:sldId id="2627" r:id="rId8"/>
    <p:sldId id="2599" r:id="rId9"/>
    <p:sldId id="2600" r:id="rId10"/>
    <p:sldId id="2606" r:id="rId11"/>
    <p:sldId id="2607" r:id="rId12"/>
    <p:sldId id="2615" r:id="rId13"/>
    <p:sldId id="261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igning a Data Pipeline for Blood Donation Analytics" id="{5F9BF99E-55B2-4F2C-8600-4203EDCB2739}">
          <p14:sldIdLst>
            <p14:sldId id="2561"/>
          </p14:sldIdLst>
        </p14:section>
        <p14:section name="Business Context and Solution Vision" id="{0D267E46-8152-4140-9DDC-FCF05762DE88}">
          <p14:sldIdLst>
            <p14:sldId id="2622"/>
            <p14:sldId id="2628"/>
            <p14:sldId id="2605"/>
            <p14:sldId id="2625"/>
            <p14:sldId id="2591"/>
            <p14:sldId id="2627"/>
            <p14:sldId id="2599"/>
            <p14:sldId id="2600"/>
          </p14:sldIdLst>
        </p14:section>
        <p14:section name="Data Pipeline Layers in Detail" id="{CE3B4FD8-C0C4-45FB-8ECC-843F3AFC4E42}">
          <p14:sldIdLst/>
        </p14:section>
        <p14:section name="Data Modeling and Processing Strategy" id="{575FF872-A71F-460D-81C3-BE66B7DB290F}">
          <p14:sldIdLst>
            <p14:sldId id="2606"/>
            <p14:sldId id="2607"/>
            <p14:sldId id="2615"/>
          </p14:sldIdLst>
        </p14:section>
        <p14:section name="Reporting Objectives" id="{5B743E3E-B9D9-4276-BDE4-D85925F54ABC}">
          <p14:sldIdLst/>
        </p14:section>
        <p14:section name="Analytical Insights and Dashboards" id="{F007841B-A35B-4917-8B53-70476A28E22D}">
          <p14:sldIdLst>
            <p14:sldId id="2616"/>
          </p14:sldIdLst>
        </p14:section>
        <p14:section name="Conclusion and Business Value" id="{07F79266-9DAF-4350-A7FF-36158B3533ED}">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F039B8-E446-4C3A-E3D5-DEB13932074E}" v="18" dt="2026-04-24T10:52:16.408"/>
    <p1510:client id="{465CA162-4018-C352-BC0F-D6C68AE60CBB}" v="196" dt="2026-04-24T10:49:04.759"/>
    <p1510:client id="{BC2A5A5B-9EEA-1748-8BB4-FC7EB697DDA8}" v="7" dt="2026-04-23T14:37:50.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5A164-5BDB-4020-BB72-D7CA28C3A35E}" type="datetimeFigureOut">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0D6BAC-FF77-437E-B1B1-BCBB560D658C}" type="slidenum">
              <a:t>‹#›</a:t>
            </a:fld>
            <a:endParaRPr lang="en-US"/>
          </a:p>
        </p:txBody>
      </p:sp>
    </p:spTree>
    <p:extLst>
      <p:ext uri="{BB962C8B-B14F-4D97-AF65-F5344CB8AC3E}">
        <p14:creationId xmlns:p14="http://schemas.microsoft.com/office/powerpoint/2010/main" val="759401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A803CE21-78BB-4DEF-BA31-F552340A25E8}" type="slidenum">
              <a:t>1</a:t>
            </a:fld>
            <a:endParaRPr lang="en-US"/>
          </a:p>
        </p:txBody>
      </p:sp>
    </p:spTree>
    <p:extLst>
      <p:ext uri="{BB962C8B-B14F-4D97-AF65-F5344CB8AC3E}">
        <p14:creationId xmlns:p14="http://schemas.microsoft.com/office/powerpoint/2010/main" val="4230520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4AF10-9D9A-E266-649D-9BB1ACA59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145B65-BA69-EAED-BF3C-A7E6C0DE0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0CA66-2DBE-C80A-F6AF-4293571FF215}"/>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78B308BE-CF3A-EBCE-1B8C-AA10171137DF}"/>
              </a:ext>
            </a:extLst>
          </p:cNvPr>
          <p:cNvSpPr>
            <a:spLocks noGrp="1"/>
          </p:cNvSpPr>
          <p:nvPr>
            <p:ph type="sldNum" sz="quarter" idx="5"/>
          </p:nvPr>
        </p:nvSpPr>
        <p:spPr/>
        <p:txBody>
          <a:bodyPr/>
          <a:lstStyle/>
          <a:p>
            <a:fld id="{A803CE21-78BB-4DEF-BA31-F552340A25E8}" type="slidenum">
              <a:t>2</a:t>
            </a:fld>
            <a:endParaRPr lang="en-US"/>
          </a:p>
        </p:txBody>
      </p:sp>
    </p:spTree>
    <p:extLst>
      <p:ext uri="{BB962C8B-B14F-4D97-AF65-F5344CB8AC3E}">
        <p14:creationId xmlns:p14="http://schemas.microsoft.com/office/powerpoint/2010/main" val="2420330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55DBD-1374-C7D2-DEC4-B7A3599A0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3D5AA-991F-626E-C254-7100E6DE9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DBC19-7A44-8E53-5002-76DAE9A2DA82}"/>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3F699C7F-EA42-0209-5474-2185F86A3849}"/>
              </a:ext>
            </a:extLst>
          </p:cNvPr>
          <p:cNvSpPr>
            <a:spLocks noGrp="1"/>
          </p:cNvSpPr>
          <p:nvPr>
            <p:ph type="sldNum" sz="quarter" idx="5"/>
          </p:nvPr>
        </p:nvSpPr>
        <p:spPr/>
        <p:txBody>
          <a:bodyPr/>
          <a:lstStyle/>
          <a:p>
            <a:fld id="{A803CE21-78BB-4DEF-BA31-F552340A25E8}" type="slidenum">
              <a:t>3</a:t>
            </a:fld>
            <a:endParaRPr lang="en-US"/>
          </a:p>
        </p:txBody>
      </p:sp>
    </p:spTree>
    <p:extLst>
      <p:ext uri="{BB962C8B-B14F-4D97-AF65-F5344CB8AC3E}">
        <p14:creationId xmlns:p14="http://schemas.microsoft.com/office/powerpoint/2010/main" val="2551713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F2102-BDD6-5EBB-85E8-E23DCD6BF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2A3C6-073A-8073-E5BC-CBF0BC92F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A03E04-1145-263E-040A-CFF0EE1B62AE}"/>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29277F26-DD2F-CB36-0A85-2C12BC980FB0}"/>
              </a:ext>
            </a:extLst>
          </p:cNvPr>
          <p:cNvSpPr>
            <a:spLocks noGrp="1"/>
          </p:cNvSpPr>
          <p:nvPr>
            <p:ph type="sldNum" sz="quarter" idx="5"/>
          </p:nvPr>
        </p:nvSpPr>
        <p:spPr/>
        <p:txBody>
          <a:bodyPr/>
          <a:lstStyle/>
          <a:p>
            <a:fld id="{A803CE21-78BB-4DEF-BA31-F552340A25E8}" type="slidenum">
              <a:t>4</a:t>
            </a:fld>
            <a:endParaRPr lang="en-US"/>
          </a:p>
        </p:txBody>
      </p:sp>
    </p:spTree>
    <p:extLst>
      <p:ext uri="{BB962C8B-B14F-4D97-AF65-F5344CB8AC3E}">
        <p14:creationId xmlns:p14="http://schemas.microsoft.com/office/powerpoint/2010/main" val="745099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444DB-CCB9-75C8-99D8-0999CEAE1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976F8-B619-BA5B-951F-FD397B431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A1636-CD34-3606-018A-493647BFA0E2}"/>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5DBFD35D-C3BC-5896-849A-6211559E253A}"/>
              </a:ext>
            </a:extLst>
          </p:cNvPr>
          <p:cNvSpPr>
            <a:spLocks noGrp="1"/>
          </p:cNvSpPr>
          <p:nvPr>
            <p:ph type="sldNum" sz="quarter" idx="5"/>
          </p:nvPr>
        </p:nvSpPr>
        <p:spPr/>
        <p:txBody>
          <a:bodyPr/>
          <a:lstStyle/>
          <a:p>
            <a:fld id="{A803CE21-78BB-4DEF-BA31-F552340A25E8}" type="slidenum">
              <a:t>5</a:t>
            </a:fld>
            <a:endParaRPr lang="en-US"/>
          </a:p>
        </p:txBody>
      </p:sp>
    </p:spTree>
    <p:extLst>
      <p:ext uri="{BB962C8B-B14F-4D97-AF65-F5344CB8AC3E}">
        <p14:creationId xmlns:p14="http://schemas.microsoft.com/office/powerpoint/2010/main" val="3705058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0246-8CB4-AB9A-B311-B02F83921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103FE-E7D2-0447-7203-12DFACE0F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02018-75AD-ACDA-865A-D28F0717672E}"/>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8403F2E2-75AE-374C-EE90-44FAACE80F1E}"/>
              </a:ext>
            </a:extLst>
          </p:cNvPr>
          <p:cNvSpPr>
            <a:spLocks noGrp="1"/>
          </p:cNvSpPr>
          <p:nvPr>
            <p:ph type="sldNum" sz="quarter" idx="5"/>
          </p:nvPr>
        </p:nvSpPr>
        <p:spPr/>
        <p:txBody>
          <a:bodyPr/>
          <a:lstStyle/>
          <a:p>
            <a:fld id="{A803CE21-78BB-4DEF-BA31-F552340A25E8}" type="slidenum">
              <a:t>6</a:t>
            </a:fld>
            <a:endParaRPr lang="en-US"/>
          </a:p>
        </p:txBody>
      </p:sp>
    </p:spTree>
    <p:extLst>
      <p:ext uri="{BB962C8B-B14F-4D97-AF65-F5344CB8AC3E}">
        <p14:creationId xmlns:p14="http://schemas.microsoft.com/office/powerpoint/2010/main" val="1470610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2001-B50B-F75B-D119-F77A29048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18F62-E624-9518-71E1-BFA7AE0FE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8E14C-EB25-6EB0-D26C-1F347BBA998B}"/>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4BD9B0DD-EBA2-668B-1962-92C5BB4DEAEE}"/>
              </a:ext>
            </a:extLst>
          </p:cNvPr>
          <p:cNvSpPr>
            <a:spLocks noGrp="1"/>
          </p:cNvSpPr>
          <p:nvPr>
            <p:ph type="sldNum" sz="quarter" idx="5"/>
          </p:nvPr>
        </p:nvSpPr>
        <p:spPr/>
        <p:txBody>
          <a:bodyPr/>
          <a:lstStyle/>
          <a:p>
            <a:fld id="{A803CE21-78BB-4DEF-BA31-F552340A25E8}" type="slidenum">
              <a:t>7</a:t>
            </a:fld>
            <a:endParaRPr lang="en-US"/>
          </a:p>
        </p:txBody>
      </p:sp>
    </p:spTree>
    <p:extLst>
      <p:ext uri="{BB962C8B-B14F-4D97-AF65-F5344CB8AC3E}">
        <p14:creationId xmlns:p14="http://schemas.microsoft.com/office/powerpoint/2010/main" val="2263749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ECFEE-253F-1354-2561-03ACC0949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0A375-4A5C-1A88-A57A-57E60A044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93E88-FCCC-30E8-2491-BEBDCB083698}"/>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0518442F-4D88-5825-0B4D-F7204A39E93C}"/>
              </a:ext>
            </a:extLst>
          </p:cNvPr>
          <p:cNvSpPr>
            <a:spLocks noGrp="1"/>
          </p:cNvSpPr>
          <p:nvPr>
            <p:ph type="sldNum" sz="quarter" idx="5"/>
          </p:nvPr>
        </p:nvSpPr>
        <p:spPr/>
        <p:txBody>
          <a:bodyPr/>
          <a:lstStyle/>
          <a:p>
            <a:fld id="{A803CE21-78BB-4DEF-BA31-F552340A25E8}" type="slidenum">
              <a:t>8</a:t>
            </a:fld>
            <a:endParaRPr lang="en-US"/>
          </a:p>
        </p:txBody>
      </p:sp>
    </p:spTree>
    <p:extLst>
      <p:ext uri="{BB962C8B-B14F-4D97-AF65-F5344CB8AC3E}">
        <p14:creationId xmlns:p14="http://schemas.microsoft.com/office/powerpoint/2010/main" val="697045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1E4FC-DB12-2DA1-90D6-A53075398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0AD17-0172-EACD-943D-5D8EC02B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37138-DB9B-D1A4-380A-980C4C36B835}"/>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74377263-9F66-E828-B007-88598AC67E46}"/>
              </a:ext>
            </a:extLst>
          </p:cNvPr>
          <p:cNvSpPr>
            <a:spLocks noGrp="1"/>
          </p:cNvSpPr>
          <p:nvPr>
            <p:ph type="sldNum" sz="quarter" idx="5"/>
          </p:nvPr>
        </p:nvSpPr>
        <p:spPr/>
        <p:txBody>
          <a:bodyPr/>
          <a:lstStyle/>
          <a:p>
            <a:fld id="{A803CE21-78BB-4DEF-BA31-F552340A25E8}" type="slidenum">
              <a:t>9</a:t>
            </a:fld>
            <a:endParaRPr lang="en-US"/>
          </a:p>
        </p:txBody>
      </p:sp>
    </p:spTree>
    <p:extLst>
      <p:ext uri="{BB962C8B-B14F-4D97-AF65-F5344CB8AC3E}">
        <p14:creationId xmlns:p14="http://schemas.microsoft.com/office/powerpoint/2010/main" val="367021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3E657-0DB2-8AD5-D5AA-1560EC3E1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76236-F708-C91C-1D89-9EECB4760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C3C99-4CE5-9F3D-2B1D-7FF0E0F4666F}"/>
              </a:ext>
            </a:extLst>
          </p:cNvPr>
          <p:cNvSpPr>
            <a:spLocks noGrp="1"/>
          </p:cNvSpPr>
          <p:nvPr>
            <p:ph type="body" idx="1"/>
          </p:nvPr>
        </p:nvSpPr>
        <p:spPr/>
        <p:txBody>
          <a:bodyPr/>
          <a:lstStyle/>
          <a:p>
            <a:r>
              <a:rPr lang="en-US"/>
              <a:t>Image source: Microsoft 365 content library</a:t>
            </a:r>
          </a:p>
        </p:txBody>
      </p:sp>
      <p:sp>
        <p:nvSpPr>
          <p:cNvPr id="4" name="Slide Number Placeholder 3">
            <a:extLst>
              <a:ext uri="{FF2B5EF4-FFF2-40B4-BE49-F238E27FC236}">
                <a16:creationId xmlns:a16="http://schemas.microsoft.com/office/drawing/2014/main" id="{2D59E8AD-E4E5-14A8-97A9-7AFB69B6BCA5}"/>
              </a:ext>
            </a:extLst>
          </p:cNvPr>
          <p:cNvSpPr>
            <a:spLocks noGrp="1"/>
          </p:cNvSpPr>
          <p:nvPr>
            <p:ph type="sldNum" sz="quarter" idx="5"/>
          </p:nvPr>
        </p:nvSpPr>
        <p:spPr/>
        <p:txBody>
          <a:bodyPr/>
          <a:lstStyle/>
          <a:p>
            <a:fld id="{A803CE21-78BB-4DEF-BA31-F552340A25E8}" type="slidenum">
              <a:t>10</a:t>
            </a:fld>
            <a:endParaRPr lang="en-US"/>
          </a:p>
        </p:txBody>
      </p:sp>
    </p:spTree>
    <p:extLst>
      <p:ext uri="{BB962C8B-B14F-4D97-AF65-F5344CB8AC3E}">
        <p14:creationId xmlns:p14="http://schemas.microsoft.com/office/powerpoint/2010/main" val="403813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50A4-4007-3434-EBBB-9045BE282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8E00C-0C9A-1649-3610-256281D9B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A87B4-6BA2-13F5-DA3F-7AB50D779940}"/>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DE8A6FE2-A3F7-112D-0213-1CB69FBF3CFB}"/>
              </a:ext>
            </a:extLst>
          </p:cNvPr>
          <p:cNvSpPr>
            <a:spLocks noGrp="1"/>
          </p:cNvSpPr>
          <p:nvPr>
            <p:ph type="sldNum" sz="quarter" idx="5"/>
          </p:nvPr>
        </p:nvSpPr>
        <p:spPr/>
        <p:txBody>
          <a:bodyPr/>
          <a:lstStyle/>
          <a:p>
            <a:fld id="{A803CE21-78BB-4DEF-BA31-F552340A25E8}" type="slidenum">
              <a:t>11</a:t>
            </a:fld>
            <a:endParaRPr lang="en-US"/>
          </a:p>
        </p:txBody>
      </p:sp>
    </p:spTree>
    <p:extLst>
      <p:ext uri="{BB962C8B-B14F-4D97-AF65-F5344CB8AC3E}">
        <p14:creationId xmlns:p14="http://schemas.microsoft.com/office/powerpoint/2010/main" val="2453814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A3981-55D2-2BB4-86F5-8AEB247EB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A7CA1-BB28-F120-3078-15DB7E2E6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5C338-50A3-9D04-CE57-787FF4FBD748}"/>
              </a:ext>
            </a:extLst>
          </p:cNvPr>
          <p:cNvSpPr>
            <a:spLocks noGrp="1"/>
          </p:cNvSpPr>
          <p:nvPr>
            <p:ph type="body" idx="1"/>
          </p:nvPr>
        </p:nvSpPr>
        <p:spPr/>
        <p:txBody>
          <a:bodyPr/>
          <a:lstStyle/>
          <a:p>
            <a:r>
              <a:rPr lang="en-US"/>
              <a:t>Image source: Microsoft 365 content library</a:t>
            </a:r>
          </a:p>
        </p:txBody>
      </p:sp>
      <p:sp>
        <p:nvSpPr>
          <p:cNvPr id="4" name="Slide Number Placeholder 3">
            <a:extLst>
              <a:ext uri="{FF2B5EF4-FFF2-40B4-BE49-F238E27FC236}">
                <a16:creationId xmlns:a16="http://schemas.microsoft.com/office/drawing/2014/main" id="{57CAC0D3-74C5-3265-B112-6F796124B693}"/>
              </a:ext>
            </a:extLst>
          </p:cNvPr>
          <p:cNvSpPr>
            <a:spLocks noGrp="1"/>
          </p:cNvSpPr>
          <p:nvPr>
            <p:ph type="sldNum" sz="quarter" idx="5"/>
          </p:nvPr>
        </p:nvSpPr>
        <p:spPr/>
        <p:txBody>
          <a:bodyPr/>
          <a:lstStyle/>
          <a:p>
            <a:fld id="{A803CE21-78BB-4DEF-BA31-F552340A25E8}" type="slidenum">
              <a:t>12</a:t>
            </a:fld>
            <a:endParaRPr lang="en-US"/>
          </a:p>
        </p:txBody>
      </p:sp>
    </p:spTree>
    <p:extLst>
      <p:ext uri="{BB962C8B-B14F-4D97-AF65-F5344CB8AC3E}">
        <p14:creationId xmlns:p14="http://schemas.microsoft.com/office/powerpoint/2010/main" val="253998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D8C88-630F-7F2C-6B31-B9D5DF838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DB16E-2CDA-E62A-AF97-A063C49E9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C2BDF-C711-352D-F281-C96AA7E2176D}"/>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1479060E-04A5-12F9-F3B3-B52229876D7E}"/>
              </a:ext>
            </a:extLst>
          </p:cNvPr>
          <p:cNvSpPr>
            <a:spLocks noGrp="1"/>
          </p:cNvSpPr>
          <p:nvPr>
            <p:ph type="sldNum" sz="quarter" idx="5"/>
          </p:nvPr>
        </p:nvSpPr>
        <p:spPr/>
        <p:txBody>
          <a:bodyPr/>
          <a:lstStyle/>
          <a:p>
            <a:fld id="{A803CE21-78BB-4DEF-BA31-F552340A25E8}" type="slidenum">
              <a:t>13</a:t>
            </a:fld>
            <a:endParaRPr lang="en-US"/>
          </a:p>
        </p:txBody>
      </p:sp>
    </p:spTree>
    <p:extLst>
      <p:ext uri="{BB962C8B-B14F-4D97-AF65-F5344CB8AC3E}">
        <p14:creationId xmlns:p14="http://schemas.microsoft.com/office/powerpoint/2010/main" val="460667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8AD2344-CEB9-4AF1-ACB6-4685DDE901E4}"/>
              </a:ext>
            </a:extLst>
          </p:cNvPr>
          <p:cNvSpPr txBox="1"/>
          <p:nvPr/>
        </p:nvSpPr>
        <p:spPr>
          <a:xfrm>
            <a:off x="8153400" y="1128094"/>
            <a:ext cx="3434180" cy="141527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200" b="1" kern="1200">
                <a:effectLst/>
                <a:latin typeface="+mj-lt"/>
                <a:ea typeface="+mj-ea"/>
                <a:cs typeface="+mj-cs"/>
              </a:rPr>
              <a:t>BLOOD </a:t>
            </a:r>
            <a:r>
              <a:rPr lang="en-US" sz="3200" b="1">
                <a:latin typeface="+mj-lt"/>
                <a:ea typeface="+mj-ea"/>
                <a:cs typeface="+mj-cs"/>
              </a:rPr>
              <a:t>BANK REPORTING SYSTEM</a:t>
            </a:r>
            <a:endParaRPr lang="en-US" sz="3200" b="1" kern="1200">
              <a:latin typeface="+mj-lt"/>
              <a:ea typeface="Calibri Light"/>
              <a:cs typeface="Calibri Light"/>
            </a:endParaRPr>
          </a:p>
        </p:txBody>
      </p:sp>
      <p:sp>
        <p:nvSpPr>
          <p:cNvPr id="63" name="Rectangle 62">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https://magazine.unison.org.uk/content/uploads/sites/53/2023/03/bigstock-Close-Up-Of-Nurse-Adjusting-Bl-455051663-745x420.jpg">
            <a:extLst>
              <a:ext uri="{FF2B5EF4-FFF2-40B4-BE49-F238E27FC236}">
                <a16:creationId xmlns:a16="http://schemas.microsoft.com/office/drawing/2014/main" id="{C7BDC5DE-FE57-2EF7-0FA4-4BBD8FBE45AD}"/>
              </a:ext>
            </a:extLst>
          </p:cNvPr>
          <p:cNvPicPr>
            <a:picLocks noChangeAspect="1"/>
          </p:cNvPicPr>
          <p:nvPr/>
        </p:nvPicPr>
        <p:blipFill>
          <a:blip r:embed="rId3"/>
          <a:srcRect l="31900" r="11429"/>
          <a:stretch>
            <a:fillRect/>
          </a:stretch>
        </p:blipFill>
        <p:spPr>
          <a:xfrm>
            <a:off x="1041975" y="702366"/>
            <a:ext cx="5476415" cy="5459890"/>
          </a:xfrm>
          <a:prstGeom prst="rect">
            <a:avLst/>
          </a:prstGeom>
        </p:spPr>
      </p:pic>
      <p:cxnSp>
        <p:nvCxnSpPr>
          <p:cNvPr id="64" name="Straight Connector 63">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5" name="Content Placeholder 45">
            <a:extLst>
              <a:ext uri="{FF2B5EF4-FFF2-40B4-BE49-F238E27FC236}">
                <a16:creationId xmlns:a16="http://schemas.microsoft.com/office/drawing/2014/main" id="{2AC6FA8F-2E21-8254-68A6-1326776F7CDB}"/>
              </a:ext>
            </a:extLst>
          </p:cNvPr>
          <p:cNvSpPr>
            <a:spLocks noGrp="1"/>
          </p:cNvSpPr>
          <p:nvPr>
            <p:ph sz="half" idx="2"/>
          </p:nvPr>
        </p:nvSpPr>
        <p:spPr>
          <a:xfrm>
            <a:off x="9262639" y="5195895"/>
            <a:ext cx="2324941" cy="965779"/>
          </a:xfrm>
        </p:spPr>
        <p:txBody>
          <a:bodyPr vert="horz" lIns="91440" tIns="45720" rIns="91440" bIns="45720" rtlCol="0" anchor="t">
            <a:normAutofit fontScale="70000" lnSpcReduction="20000"/>
          </a:bodyPr>
          <a:lstStyle/>
          <a:p>
            <a:pPr marL="0" indent="0">
              <a:buNone/>
            </a:pPr>
            <a:r>
              <a:rPr lang="en-US" sz="2000" b="1">
                <a:ea typeface="Calibri"/>
                <a:cs typeface="Calibri"/>
              </a:rPr>
              <a:t>Presented by</a:t>
            </a:r>
          </a:p>
          <a:p>
            <a:pPr marL="0" indent="0">
              <a:buNone/>
            </a:pPr>
            <a:r>
              <a:rPr lang="en-US" sz="2000">
                <a:ea typeface="Calibri"/>
                <a:cs typeface="Calibri"/>
              </a:rPr>
              <a:t>Dhanalakshmi Karri</a:t>
            </a:r>
          </a:p>
          <a:p>
            <a:pPr marL="0" indent="0">
              <a:buNone/>
            </a:pPr>
            <a:r>
              <a:rPr lang="en-US" sz="2000">
                <a:ea typeface="Calibri"/>
                <a:cs typeface="Calibri"/>
              </a:rPr>
              <a:t>Associate Software Engineer</a:t>
            </a:r>
          </a:p>
        </p:txBody>
      </p:sp>
    </p:spTree>
    <p:extLst>
      <p:ext uri="{BB962C8B-B14F-4D97-AF65-F5344CB8AC3E}">
        <p14:creationId xmlns:p14="http://schemas.microsoft.com/office/powerpoint/2010/main" val="2087947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E8BA6E-D5D9-D2B3-BFB9-34EBF5A1D29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9EBD96F-C114-3A4F-8E38-312D7D511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872EE4F-F265-A341-67EA-19A619198E98}"/>
              </a:ext>
            </a:extLst>
          </p:cNvPr>
          <p:cNvSpPr txBox="1"/>
          <p:nvPr/>
        </p:nvSpPr>
        <p:spPr>
          <a:xfrm>
            <a:off x="640080" y="325369"/>
            <a:ext cx="3481210" cy="214975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cap="all">
                <a:latin typeface="+mj-lt"/>
                <a:ea typeface="+mj-ea"/>
                <a:cs typeface="+mj-cs"/>
              </a:rPr>
              <a:t>Requirement GIVEN</a:t>
            </a:r>
            <a:endParaRPr lang="en-US" sz="3200" b="1" cap="all">
              <a:latin typeface="+mj-lt"/>
              <a:ea typeface="Calibri Light"/>
              <a:cs typeface="Calibri Light"/>
            </a:endParaRPr>
          </a:p>
        </p:txBody>
      </p:sp>
      <p:sp>
        <p:nvSpPr>
          <p:cNvPr id="22" name="sketchy line">
            <a:extLst>
              <a:ext uri="{FF2B5EF4-FFF2-40B4-BE49-F238E27FC236}">
                <a16:creationId xmlns:a16="http://schemas.microsoft.com/office/drawing/2014/main" id="{4CEA5B24-8BA3-02BE-4775-9BC688F5C0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07BB8C6-4C3B-1A76-2FC2-8A8AD9A0F9CE}"/>
              </a:ext>
            </a:extLst>
          </p:cNvPr>
          <p:cNvSpPr txBox="1"/>
          <p:nvPr/>
        </p:nvSpPr>
        <p:spPr>
          <a:xfrm>
            <a:off x="640080" y="2872899"/>
            <a:ext cx="4742181" cy="3561807"/>
          </a:xfrm>
          <a:prstGeom prst="rect">
            <a:avLst/>
          </a:prstGeom>
        </p:spPr>
        <p:txBody>
          <a:bodyPr vert="horz" lIns="91440" tIns="45720" rIns="91440" bIns="45720" rtlCol="0" anchor="t">
            <a:noAutofit/>
          </a:bodyPr>
          <a:lstStyle/>
          <a:p>
            <a:pPr marL="285750" indent="-285750">
              <a:buFont typeface="Arial"/>
              <a:buChar char="•"/>
            </a:pPr>
            <a:r>
              <a:rPr lang="en-US" sz="1400">
                <a:ea typeface="+mn-lt"/>
                <a:cs typeface="+mn-lt"/>
              </a:rPr>
              <a:t>We were provided with backend data of an application called </a:t>
            </a:r>
            <a:r>
              <a:rPr lang="en-US" sz="1400" b="1">
                <a:ea typeface="+mn-lt"/>
                <a:cs typeface="+mn-lt"/>
              </a:rPr>
              <a:t>Blood Bank Management System</a:t>
            </a:r>
            <a:r>
              <a:rPr lang="en-US" sz="1400">
                <a:ea typeface="+mn-lt"/>
                <a:cs typeface="+mn-lt"/>
              </a:rPr>
              <a:t>.</a:t>
            </a:r>
            <a:endParaRPr lang="en-US">
              <a:ea typeface="Calibri" panose="020F0502020204030204"/>
              <a:cs typeface="Calibri" panose="020F0502020204030204"/>
            </a:endParaRPr>
          </a:p>
          <a:p>
            <a:endParaRPr lang="en-US" sz="1400">
              <a:ea typeface="+mn-lt"/>
              <a:cs typeface="+mn-lt"/>
            </a:endParaRPr>
          </a:p>
          <a:p>
            <a:pPr marL="285750" indent="-285750">
              <a:buFont typeface="Arial"/>
              <a:buChar char="•"/>
            </a:pPr>
            <a:r>
              <a:rPr lang="en-US" sz="1400">
                <a:ea typeface="+mn-lt"/>
                <a:cs typeface="+mn-lt"/>
              </a:rPr>
              <a:t>The data was given as a SQL file containing the</a:t>
            </a:r>
            <a:br>
              <a:rPr lang="en-US" sz="1400">
                <a:ea typeface="+mn-lt"/>
                <a:cs typeface="+mn-lt"/>
              </a:rPr>
            </a:br>
            <a:r>
              <a:rPr lang="en-US" sz="1400">
                <a:ea typeface="+mn-lt"/>
                <a:cs typeface="+mn-lt"/>
              </a:rPr>
              <a:t> table creation DDLs and insert statements.</a:t>
            </a:r>
            <a:endParaRPr lang="en-US">
              <a:ea typeface="Calibri" panose="020F0502020204030204"/>
              <a:cs typeface="Calibri" panose="020F0502020204030204"/>
            </a:endParaRPr>
          </a:p>
          <a:p>
            <a:pPr>
              <a:buFont typeface="Arial" panose="020B0604020202020204" pitchFamily="34" charset="0"/>
              <a:buChar char="•"/>
            </a:pPr>
            <a:endParaRPr lang="en-US" sz="1400">
              <a:ea typeface="+mn-lt"/>
              <a:cs typeface="+mn-lt"/>
            </a:endParaRPr>
          </a:p>
          <a:p>
            <a:pPr marL="285750" indent="-285750">
              <a:buFont typeface="Arial"/>
              <a:buChar char="•"/>
            </a:pPr>
            <a:r>
              <a:rPr lang="en-US" sz="1400">
                <a:ea typeface="+mn-lt"/>
                <a:cs typeface="+mn-lt"/>
              </a:rPr>
              <a:t>We were asked to build a reporting system considering this data as source</a:t>
            </a:r>
          </a:p>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The data contains daily activities like </a:t>
            </a:r>
            <a:r>
              <a:rPr lang="en-US" sz="1400" b="1">
                <a:ea typeface="+mn-lt"/>
                <a:cs typeface="+mn-lt"/>
              </a:rPr>
              <a:t>donations, blood tests, and requests, </a:t>
            </a:r>
            <a:r>
              <a:rPr lang="en-US" sz="1400">
                <a:ea typeface="+mn-lt"/>
                <a:cs typeface="+mn-lt"/>
              </a:rPr>
              <a:t>which are not optimized for reporting.</a:t>
            </a:r>
            <a:endParaRPr lang="en-US">
              <a:ea typeface="+mn-lt"/>
              <a:cs typeface="+mn-lt"/>
            </a:endParaRPr>
          </a:p>
          <a:p>
            <a:pPr>
              <a:buFont typeface="Arial" panose="020B0604020202020204" pitchFamily="34" charset="0"/>
              <a:buChar char="•"/>
            </a:pPr>
            <a:endParaRPr lang="en-US" sz="1400">
              <a:ea typeface="+mn-lt"/>
              <a:cs typeface="+mn-lt"/>
            </a:endParaRPr>
          </a:p>
          <a:p>
            <a:endParaRPr lang="en-US" sz="1400">
              <a:ea typeface="+mn-lt"/>
              <a:cs typeface="+mn-lt"/>
            </a:endParaRPr>
          </a:p>
          <a:p>
            <a:pPr indent="-228600">
              <a:lnSpc>
                <a:spcPct val="90000"/>
              </a:lnSpc>
              <a:spcAft>
                <a:spcPts val="600"/>
              </a:spcAft>
              <a:buFont typeface="Arial" panose="020B0604020202020204" pitchFamily="34" charset="0"/>
              <a:buChar char="•"/>
            </a:pPr>
            <a:endParaRPr lang="en-US" sz="1400" b="1">
              <a:ea typeface="Calibri"/>
              <a:cs typeface="Calibri"/>
            </a:endParaRPr>
          </a:p>
          <a:p>
            <a:pPr>
              <a:lnSpc>
                <a:spcPct val="90000"/>
              </a:lnSpc>
              <a:spcAft>
                <a:spcPts val="600"/>
              </a:spcAft>
            </a:pPr>
            <a:endParaRPr lang="en-US" sz="1400">
              <a:ea typeface="Calibri"/>
              <a:cs typeface="Calibri"/>
            </a:endParaRPr>
          </a:p>
        </p:txBody>
      </p:sp>
      <p:pic>
        <p:nvPicPr>
          <p:cNvPr id="4" name="Content Placeholder 3" descr="Two people looking at a computer screen&#10;&#10;AI-generated content may be incorrect.">
            <a:extLst>
              <a:ext uri="{FF2B5EF4-FFF2-40B4-BE49-F238E27FC236}">
                <a16:creationId xmlns:a16="http://schemas.microsoft.com/office/drawing/2014/main" id="{568FA9A7-D080-77F6-8331-52CEA23D73D8}"/>
              </a:ext>
            </a:extLst>
          </p:cNvPr>
          <p:cNvPicPr>
            <a:picLocks noGrp="1" noChangeAspect="1"/>
          </p:cNvPicPr>
          <p:nvPr>
            <p:ph sz="half" idx="1"/>
          </p:nvPr>
        </p:nvPicPr>
        <p:blipFill>
          <a:blip r:embed="rId3"/>
          <a:srcRect l="19151" r="13895" b="-1"/>
          <a:stretch>
            <a:fillRect/>
          </a:stretch>
        </p:blipFill>
        <p:spPr>
          <a:xfrm>
            <a:off x="5923183" y="10"/>
            <a:ext cx="626729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3689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35FB1A-B0B7-B86B-0E89-036CA6B35E16}"/>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3F70A99-51F3-5E12-7E3D-C3586C530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31505A51-05A7-2AE2-AB8C-A7E0D05F7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709A9ECC-17B4-1F41-78D1-10BBFAA71BC5}"/>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 REPORTING REQUIREMENTS</a:t>
            </a:r>
          </a:p>
        </p:txBody>
      </p:sp>
      <p:sp>
        <p:nvSpPr>
          <p:cNvPr id="49" name="Arc 48">
            <a:extLst>
              <a:ext uri="{FF2B5EF4-FFF2-40B4-BE49-F238E27FC236}">
                <a16:creationId xmlns:a16="http://schemas.microsoft.com/office/drawing/2014/main" id="{A73A040C-FEC6-BABE-43A9-36DA4262C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094058B-C988-25BF-DAFC-1146DD0B2E16}"/>
              </a:ext>
            </a:extLst>
          </p:cNvPr>
          <p:cNvSpPr txBox="1"/>
          <p:nvPr/>
        </p:nvSpPr>
        <p:spPr>
          <a:xfrm>
            <a:off x="838200" y="1825625"/>
            <a:ext cx="5562601" cy="4351338"/>
          </a:xfrm>
          <a:prstGeom prst="rect">
            <a:avLst/>
          </a:prstGeom>
        </p:spPr>
        <p:txBody>
          <a:bodyPr vert="horz" lIns="91440" tIns="45720" rIns="91440" bIns="45720" rtlCol="0" anchor="t">
            <a:normAutofit/>
          </a:bodyPr>
          <a:lstStyle/>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Monthly donation trends by blood type</a:t>
            </a:r>
            <a:br>
              <a:rPr lang="en-US" sz="1400">
                <a:ea typeface="+mn-lt"/>
                <a:cs typeface="+mn-lt"/>
              </a:rPr>
            </a:br>
            <a:endParaRPr lang="en-US" sz="1400">
              <a:ea typeface="+mn-lt"/>
              <a:cs typeface="+mn-lt"/>
            </a:endParaRPr>
          </a:p>
          <a:p>
            <a:pPr marL="285750" indent="-285750">
              <a:buFont typeface="Arial"/>
              <a:buChar char="•"/>
            </a:pPr>
            <a:r>
              <a:rPr lang="en-US" sz="1400">
                <a:ea typeface="+mn-lt"/>
                <a:cs typeface="+mn-lt"/>
              </a:rPr>
              <a:t>Donor Demographics</a:t>
            </a:r>
            <a:br>
              <a:rPr lang="en-US" sz="1400">
                <a:ea typeface="+mn-lt"/>
                <a:cs typeface="+mn-lt"/>
              </a:rPr>
            </a:br>
            <a:endParaRPr lang="en-US" sz="1400">
              <a:ea typeface="+mn-lt"/>
              <a:cs typeface="+mn-lt"/>
            </a:endParaRPr>
          </a:p>
          <a:p>
            <a:pPr marL="285750" indent="-285750">
              <a:buFont typeface="Arial"/>
              <a:buChar char="•"/>
            </a:pPr>
            <a:r>
              <a:rPr lang="en-US" sz="1400">
                <a:ea typeface="+mn-lt"/>
                <a:cs typeface="+mn-lt"/>
              </a:rPr>
              <a:t>Donor retention risk</a:t>
            </a:r>
            <a:br>
              <a:rPr lang="en-US" sz="1400">
                <a:ea typeface="+mn-lt"/>
                <a:cs typeface="+mn-lt"/>
              </a:rPr>
            </a:br>
            <a:endParaRPr lang="en-US" sz="1400">
              <a:ea typeface="+mn-lt"/>
              <a:cs typeface="+mn-lt"/>
            </a:endParaRPr>
          </a:p>
          <a:p>
            <a:pPr marL="285750" indent="-285750">
              <a:buFont typeface="Arial"/>
              <a:buChar char="•"/>
            </a:pPr>
            <a:r>
              <a:rPr lang="en-US" sz="1400">
                <a:ea typeface="+mn-lt"/>
                <a:cs typeface="+mn-lt"/>
              </a:rPr>
              <a:t>Hospital Demand vs supply</a:t>
            </a:r>
          </a:p>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Urgent Requests Analysis</a:t>
            </a:r>
          </a:p>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Daily Operations summary</a:t>
            </a:r>
          </a:p>
          <a:p>
            <a:pPr marL="285750" indent="-285750">
              <a:buFont typeface="Arial"/>
              <a:buChar char="•"/>
            </a:pPr>
            <a:endParaRPr lang="en-US" sz="1400">
              <a:ea typeface="+mn-lt"/>
              <a:cs typeface="+mn-lt"/>
            </a:endParaRPr>
          </a:p>
          <a:p>
            <a:pPr marL="285750" indent="-285750">
              <a:buFont typeface="Arial"/>
              <a:buChar char="•"/>
            </a:pPr>
            <a:endParaRPr lang="en-US" sz="1400">
              <a:ea typeface="+mn-lt"/>
              <a:cs typeface="+mn-lt"/>
            </a:endParaRPr>
          </a:p>
          <a:p>
            <a:br>
              <a:rPr lang="en-US" sz="1400">
                <a:ea typeface="+mn-lt"/>
                <a:cs typeface="+mn-lt"/>
              </a:rPr>
            </a:br>
            <a:endParaRPr lang="en-US" sz="1400">
              <a:ea typeface="+mn-lt"/>
              <a:cs typeface="+mn-lt"/>
            </a:endParaRPr>
          </a:p>
          <a:p>
            <a:endParaRPr lang="en-US" sz="1400">
              <a:ea typeface="Calibri"/>
              <a:cs typeface="Calibri"/>
            </a:endParaRPr>
          </a:p>
          <a:p>
            <a:pPr marR="0"/>
            <a:endParaRPr lang="en-US" sz="1600">
              <a:ea typeface="Calibri"/>
              <a:cs typeface="Calibri"/>
            </a:endParaRPr>
          </a:p>
          <a:p>
            <a:pPr marL="171450" indent="-228600">
              <a:lnSpc>
                <a:spcPct val="90000"/>
              </a:lnSpc>
              <a:spcAft>
                <a:spcPts val="600"/>
              </a:spcAft>
              <a:buFont typeface="Arial" panose="020B0604020202020204" pitchFamily="34" charset="0"/>
              <a:buChar char="•"/>
            </a:pPr>
            <a:endParaRPr lang="en-US" sz="1600">
              <a:ea typeface="Calibri"/>
              <a:cs typeface="Calibri"/>
            </a:endParaRPr>
          </a:p>
          <a:p>
            <a:pPr>
              <a:lnSpc>
                <a:spcPct val="90000"/>
              </a:lnSpc>
              <a:spcAft>
                <a:spcPts val="600"/>
              </a:spcAft>
            </a:pPr>
            <a:endParaRPr lang="en-US" sz="1600">
              <a:ea typeface="Calibri"/>
              <a:cs typeface="Calibri"/>
            </a:endParaRPr>
          </a:p>
        </p:txBody>
      </p:sp>
    </p:spTree>
    <p:extLst>
      <p:ext uri="{BB962C8B-B14F-4D97-AF65-F5344CB8AC3E}">
        <p14:creationId xmlns:p14="http://schemas.microsoft.com/office/powerpoint/2010/main" val="2222712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6B7E2D-26F5-F4C0-C5CE-C3B0048CA7DE}"/>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C352946-8CA0-EDA8-287F-0E0A4E19F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524B8C80-307D-6E35-C40B-A461AAE7D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94710EBE-C0F7-5349-E332-97EF3B8097E7}"/>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OLTP vs OLAP</a:t>
            </a:r>
          </a:p>
        </p:txBody>
      </p:sp>
      <p:sp>
        <p:nvSpPr>
          <p:cNvPr id="49" name="Arc 48">
            <a:extLst>
              <a:ext uri="{FF2B5EF4-FFF2-40B4-BE49-F238E27FC236}">
                <a16:creationId xmlns:a16="http://schemas.microsoft.com/office/drawing/2014/main" id="{82469B84-1B52-9E61-1E92-FCBD02DB6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5C435913-7692-7BAB-FA38-1EF6A4D5A9B2}"/>
              </a:ext>
            </a:extLst>
          </p:cNvPr>
          <p:cNvSpPr txBox="1"/>
          <p:nvPr/>
        </p:nvSpPr>
        <p:spPr>
          <a:xfrm>
            <a:off x="838200" y="1825625"/>
            <a:ext cx="5562601" cy="4351338"/>
          </a:xfrm>
          <a:prstGeom prst="rect">
            <a:avLst/>
          </a:prstGeom>
        </p:spPr>
        <p:txBody>
          <a:bodyPr vert="horz" lIns="91440" tIns="45720" rIns="91440" bIns="45720" rtlCol="0" anchor="t">
            <a:normAutofit/>
          </a:bodyPr>
          <a:lstStyle/>
          <a:p>
            <a:pPr marL="285750" indent="-285750">
              <a:buFont typeface="Arial"/>
              <a:buChar char="•"/>
            </a:pPr>
            <a:endParaRPr lang="en-US" sz="1400">
              <a:ea typeface="+mn-lt"/>
              <a:cs typeface="+mn-lt"/>
            </a:endParaRPr>
          </a:p>
          <a:p>
            <a:r>
              <a:rPr lang="en-US" sz="1400" b="1">
                <a:ea typeface="+mn-lt"/>
                <a:cs typeface="+mn-lt"/>
              </a:rPr>
              <a:t>OLTP (Operational Systems)</a:t>
            </a:r>
            <a:endParaRPr lang="en-US" sz="1400">
              <a:ea typeface="+mn-lt"/>
              <a:cs typeface="+mn-lt"/>
            </a:endParaRPr>
          </a:p>
          <a:p>
            <a:endParaRPr lang="en-US" sz="1400" b="1">
              <a:ea typeface="+mn-lt"/>
              <a:cs typeface="+mn-lt"/>
            </a:endParaRPr>
          </a:p>
          <a:p>
            <a:pPr marL="285750" indent="-285750">
              <a:buFont typeface="Arial"/>
              <a:buChar char="•"/>
            </a:pPr>
            <a:r>
              <a:rPr lang="en-US" sz="1400">
                <a:ea typeface="+mn-lt"/>
                <a:cs typeface="+mn-lt"/>
              </a:rPr>
              <a:t>Used for </a:t>
            </a:r>
            <a:r>
              <a:rPr lang="en-US" sz="1400" b="1">
                <a:ea typeface="+mn-lt"/>
                <a:cs typeface="+mn-lt"/>
              </a:rPr>
              <a:t>daily operations</a:t>
            </a:r>
            <a:r>
              <a:rPr lang="en-US" sz="1400">
                <a:ea typeface="+mn-lt"/>
                <a:cs typeface="+mn-lt"/>
              </a:rPr>
              <a:t> like transactions and data entry </a:t>
            </a:r>
            <a:endParaRPr lang="en-US" sz="1400">
              <a:ea typeface="Calibri" panose="020F0502020204030204"/>
              <a:cs typeface="Calibri" panose="020F0502020204030204"/>
            </a:endParaRPr>
          </a:p>
          <a:p>
            <a:endParaRPr lang="en-US" sz="1400">
              <a:ea typeface="+mn-lt"/>
              <a:cs typeface="+mn-lt"/>
            </a:endParaRPr>
          </a:p>
          <a:p>
            <a:pPr marL="285750" indent="-285750">
              <a:buFont typeface="Arial"/>
              <a:buChar char="•"/>
            </a:pPr>
            <a:r>
              <a:rPr lang="en-US" sz="1400">
                <a:ea typeface="+mn-lt"/>
                <a:cs typeface="+mn-lt"/>
              </a:rPr>
              <a:t>Handles frequent inserts and updates</a:t>
            </a:r>
            <a:endParaRPr lang="en-US" sz="1400">
              <a:ea typeface="Calibri" panose="020F0502020204030204"/>
              <a:cs typeface="Calibri" panose="020F0502020204030204"/>
            </a:endParaRPr>
          </a:p>
          <a:p>
            <a:br>
              <a:rPr lang="en-US" sz="1400">
                <a:ea typeface="+mn-lt"/>
                <a:cs typeface="+mn-lt"/>
              </a:rPr>
            </a:br>
            <a:endParaRPr lang="en-US" sz="1400">
              <a:ea typeface="+mn-lt"/>
              <a:cs typeface="+mn-lt"/>
            </a:endParaRPr>
          </a:p>
          <a:p>
            <a:r>
              <a:rPr lang="en-US" sz="1400" b="1">
                <a:ea typeface="+mn-lt"/>
                <a:cs typeface="+mn-lt"/>
              </a:rPr>
              <a:t>OLAP (Analytical Systems)</a:t>
            </a:r>
            <a:endParaRPr lang="en-US"/>
          </a:p>
          <a:p>
            <a:endParaRPr lang="en-US" sz="1400" b="1">
              <a:ea typeface="+mn-lt"/>
              <a:cs typeface="+mn-lt"/>
            </a:endParaRPr>
          </a:p>
          <a:p>
            <a:pPr marL="285750" indent="-285750">
              <a:buFont typeface="Arial"/>
              <a:buChar char="•"/>
            </a:pPr>
            <a:r>
              <a:rPr lang="en-US" sz="1400">
                <a:ea typeface="+mn-lt"/>
                <a:cs typeface="+mn-lt"/>
              </a:rPr>
              <a:t>Used for </a:t>
            </a:r>
            <a:r>
              <a:rPr lang="en-US" sz="1400" b="1">
                <a:ea typeface="+mn-lt"/>
                <a:cs typeface="+mn-lt"/>
              </a:rPr>
              <a:t>reporting and data analysis</a:t>
            </a:r>
            <a:r>
              <a:rPr lang="en-US" sz="1400">
                <a:ea typeface="+mn-lt"/>
                <a:cs typeface="+mn-lt"/>
              </a:rPr>
              <a:t> </a:t>
            </a:r>
            <a:endParaRPr lang="en-US"/>
          </a:p>
          <a:p>
            <a:endParaRPr lang="en-US" sz="1400">
              <a:ea typeface="+mn-lt"/>
              <a:cs typeface="+mn-lt"/>
            </a:endParaRPr>
          </a:p>
          <a:p>
            <a:pPr marL="285750" indent="-285750">
              <a:buFont typeface="Arial"/>
              <a:buChar char="•"/>
            </a:pPr>
            <a:r>
              <a:rPr lang="en-US" sz="1400">
                <a:ea typeface="+mn-lt"/>
                <a:cs typeface="+mn-lt"/>
              </a:rPr>
              <a:t>Handles </a:t>
            </a:r>
            <a:r>
              <a:rPr lang="en-US" sz="1400" err="1">
                <a:ea typeface="+mn-lt"/>
                <a:cs typeface="+mn-lt"/>
              </a:rPr>
              <a:t>comple</a:t>
            </a:r>
            <a:r>
              <a:rPr lang="en-US" sz="1400">
                <a:ea typeface="+mn-lt"/>
                <a:cs typeface="+mn-lt"/>
              </a:rPr>
              <a:t>x data queries</a:t>
            </a:r>
            <a:endParaRPr lang="en-US">
              <a:ea typeface="Calibri"/>
              <a:cs typeface="Calibri"/>
            </a:endParaRPr>
          </a:p>
          <a:p>
            <a:endParaRPr lang="en-US" sz="1400">
              <a:ea typeface="Calibri"/>
              <a:cs typeface="Calibri"/>
            </a:endParaRPr>
          </a:p>
          <a:p>
            <a:pPr marR="0"/>
            <a:endParaRPr lang="en-US" sz="1600">
              <a:ea typeface="Calibri"/>
              <a:cs typeface="Calibri"/>
            </a:endParaRPr>
          </a:p>
          <a:p>
            <a:pPr marL="171450" indent="-228600">
              <a:lnSpc>
                <a:spcPct val="90000"/>
              </a:lnSpc>
              <a:spcAft>
                <a:spcPts val="600"/>
              </a:spcAft>
              <a:buFont typeface="Arial" panose="020B0604020202020204" pitchFamily="34" charset="0"/>
              <a:buChar char="•"/>
            </a:pPr>
            <a:endParaRPr lang="en-US" sz="1600">
              <a:ea typeface="Calibri"/>
              <a:cs typeface="Calibri"/>
            </a:endParaRPr>
          </a:p>
          <a:p>
            <a:pPr>
              <a:lnSpc>
                <a:spcPct val="90000"/>
              </a:lnSpc>
              <a:spcAft>
                <a:spcPts val="600"/>
              </a:spcAft>
            </a:pPr>
            <a:endParaRPr lang="en-US" sz="1600">
              <a:ea typeface="Calibri"/>
              <a:cs typeface="Calibri"/>
            </a:endParaRPr>
          </a:p>
        </p:txBody>
      </p:sp>
    </p:spTree>
    <p:extLst>
      <p:ext uri="{BB962C8B-B14F-4D97-AF65-F5344CB8AC3E}">
        <p14:creationId xmlns:p14="http://schemas.microsoft.com/office/powerpoint/2010/main" val="2213051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93B0EB-221A-0D6F-02AB-2DBEE083D657}"/>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53CAC14-A1D8-F1DC-F7D5-C07E47BA4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and white logo&#10;&#10;AI-generated content may be incorrect.">
            <a:extLst>
              <a:ext uri="{FF2B5EF4-FFF2-40B4-BE49-F238E27FC236}">
                <a16:creationId xmlns:a16="http://schemas.microsoft.com/office/drawing/2014/main" id="{D6A4A772-46CE-CDE8-A314-BDC56ED6E4A2}"/>
              </a:ext>
            </a:extLst>
          </p:cNvPr>
          <p:cNvPicPr>
            <a:picLocks noGrp="1" noChangeAspect="1"/>
          </p:cNvPicPr>
          <p:nvPr>
            <p:ph sz="half" idx="1"/>
          </p:nvPr>
        </p:nvPicPr>
        <p:blipFill>
          <a:blip r:embed="rId3"/>
          <a:stretch>
            <a:fillRect/>
          </a:stretch>
        </p:blipFill>
        <p:spPr>
          <a:xfrm>
            <a:off x="5273566" y="2880277"/>
            <a:ext cx="2143871" cy="2143871"/>
          </a:xfrm>
          <a:prstGeom prst="rect">
            <a:avLst/>
          </a:prstGeom>
        </p:spPr>
      </p:pic>
      <p:pic>
        <p:nvPicPr>
          <p:cNvPr id="6" name="Picture 5" descr="A computer screen with graph and gear&#10;&#10;AI-generated content may be incorrect.">
            <a:extLst>
              <a:ext uri="{FF2B5EF4-FFF2-40B4-BE49-F238E27FC236}">
                <a16:creationId xmlns:a16="http://schemas.microsoft.com/office/drawing/2014/main" id="{0051BA39-BBB2-9D56-C6F9-90BF2715D142}"/>
              </a:ext>
            </a:extLst>
          </p:cNvPr>
          <p:cNvPicPr>
            <a:picLocks noChangeAspect="1"/>
          </p:cNvPicPr>
          <p:nvPr/>
        </p:nvPicPr>
        <p:blipFill>
          <a:blip r:embed="rId4"/>
          <a:stretch>
            <a:fillRect/>
          </a:stretch>
        </p:blipFill>
        <p:spPr>
          <a:xfrm>
            <a:off x="9942193" y="3341266"/>
            <a:ext cx="1109261" cy="1109261"/>
          </a:xfrm>
          <a:prstGeom prst="rect">
            <a:avLst/>
          </a:prstGeom>
        </p:spPr>
      </p:pic>
      <p:sp>
        <p:nvSpPr>
          <p:cNvPr id="3" name="Arrow: Right 2">
            <a:extLst>
              <a:ext uri="{FF2B5EF4-FFF2-40B4-BE49-F238E27FC236}">
                <a16:creationId xmlns:a16="http://schemas.microsoft.com/office/drawing/2014/main" id="{8B8B27E1-922B-DA26-BED3-547016659B09}"/>
              </a:ext>
            </a:extLst>
          </p:cNvPr>
          <p:cNvSpPr/>
          <p:nvPr/>
        </p:nvSpPr>
        <p:spPr>
          <a:xfrm>
            <a:off x="7254051" y="3861270"/>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4FABD49F-74E6-A38D-89F1-791D882D1F05}"/>
              </a:ext>
            </a:extLst>
          </p:cNvPr>
          <p:cNvSpPr/>
          <p:nvPr/>
        </p:nvSpPr>
        <p:spPr>
          <a:xfrm>
            <a:off x="9191977" y="3851863"/>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651E776-7723-77C1-ACC1-31D3A68A5280}"/>
              </a:ext>
            </a:extLst>
          </p:cNvPr>
          <p:cNvSpPr txBox="1"/>
          <p:nvPr/>
        </p:nvSpPr>
        <p:spPr>
          <a:xfrm>
            <a:off x="5791200" y="4648200"/>
            <a:ext cx="1346200" cy="2667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2069C9F8-F6BB-7232-3D47-7E4930A3E184}"/>
              </a:ext>
            </a:extLst>
          </p:cNvPr>
          <p:cNvSpPr txBox="1"/>
          <p:nvPr/>
        </p:nvSpPr>
        <p:spPr>
          <a:xfrm>
            <a:off x="5639740" y="4668426"/>
            <a:ext cx="8278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Source</a:t>
            </a:r>
          </a:p>
        </p:txBody>
      </p:sp>
      <p:sp>
        <p:nvSpPr>
          <p:cNvPr id="13" name="TextBox 12">
            <a:extLst>
              <a:ext uri="{FF2B5EF4-FFF2-40B4-BE49-F238E27FC236}">
                <a16:creationId xmlns:a16="http://schemas.microsoft.com/office/drawing/2014/main" id="{CE37E2C1-7708-5E37-BF7C-179FB068324F}"/>
              </a:ext>
            </a:extLst>
          </p:cNvPr>
          <p:cNvSpPr txBox="1"/>
          <p:nvPr/>
        </p:nvSpPr>
        <p:spPr>
          <a:xfrm>
            <a:off x="8051800" y="4734749"/>
            <a:ext cx="139888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PostgreSQL</a:t>
            </a:r>
          </a:p>
        </p:txBody>
      </p:sp>
      <p:sp>
        <p:nvSpPr>
          <p:cNvPr id="14" name="TextBox 13">
            <a:extLst>
              <a:ext uri="{FF2B5EF4-FFF2-40B4-BE49-F238E27FC236}">
                <a16:creationId xmlns:a16="http://schemas.microsoft.com/office/drawing/2014/main" id="{FB26546C-32AC-67F9-7D4E-94EB48427FAB}"/>
              </a:ext>
            </a:extLst>
          </p:cNvPr>
          <p:cNvSpPr txBox="1"/>
          <p:nvPr/>
        </p:nvSpPr>
        <p:spPr>
          <a:xfrm>
            <a:off x="10119548" y="4732396"/>
            <a:ext cx="166887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Power BI (Visualizat</a:t>
            </a:r>
            <a:r>
              <a:rPr lang="en-US" sz="1400"/>
              <a:t>ion</a:t>
            </a:r>
            <a:r>
              <a:rPr lang="en-US" sz="1400">
                <a:ea typeface="Calibri"/>
                <a:cs typeface="Calibri"/>
              </a:rPr>
              <a:t> tool)</a:t>
            </a:r>
          </a:p>
        </p:txBody>
      </p:sp>
      <p:sp>
        <p:nvSpPr>
          <p:cNvPr id="15" name="Arrow: Right 14">
            <a:extLst>
              <a:ext uri="{FF2B5EF4-FFF2-40B4-BE49-F238E27FC236}">
                <a16:creationId xmlns:a16="http://schemas.microsoft.com/office/drawing/2014/main" id="{BA09D42D-6CA7-8134-9D05-9DC8DD6EA2B1}"/>
              </a:ext>
            </a:extLst>
          </p:cNvPr>
          <p:cNvSpPr/>
          <p:nvPr/>
        </p:nvSpPr>
        <p:spPr>
          <a:xfrm>
            <a:off x="6623755" y="3851863"/>
            <a:ext cx="523523" cy="192853"/>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2882F24-02E4-15F0-2071-8042CF7A2BD8}"/>
              </a:ext>
            </a:extLst>
          </p:cNvPr>
          <p:cNvSpPr txBox="1"/>
          <p:nvPr/>
        </p:nvSpPr>
        <p:spPr>
          <a:xfrm>
            <a:off x="6563549" y="3567289"/>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Extract</a:t>
            </a:r>
          </a:p>
        </p:txBody>
      </p:sp>
      <p:sp>
        <p:nvSpPr>
          <p:cNvPr id="18" name="TextBox 17">
            <a:extLst>
              <a:ext uri="{FF2B5EF4-FFF2-40B4-BE49-F238E27FC236}">
                <a16:creationId xmlns:a16="http://schemas.microsoft.com/office/drawing/2014/main" id="{A25341CC-4B1B-044A-8BBF-455A6B2B6491}"/>
              </a:ext>
            </a:extLst>
          </p:cNvPr>
          <p:cNvSpPr txBox="1"/>
          <p:nvPr/>
        </p:nvSpPr>
        <p:spPr>
          <a:xfrm>
            <a:off x="7254805" y="3576696"/>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Load</a:t>
            </a:r>
          </a:p>
        </p:txBody>
      </p:sp>
      <p:sp>
        <p:nvSpPr>
          <p:cNvPr id="19" name="TextBox 18">
            <a:extLst>
              <a:ext uri="{FF2B5EF4-FFF2-40B4-BE49-F238E27FC236}">
                <a16:creationId xmlns:a16="http://schemas.microsoft.com/office/drawing/2014/main" id="{37C76C08-A52D-603C-4B12-4C9F1380D0FF}"/>
              </a:ext>
            </a:extLst>
          </p:cNvPr>
          <p:cNvSpPr txBox="1"/>
          <p:nvPr/>
        </p:nvSpPr>
        <p:spPr>
          <a:xfrm>
            <a:off x="9232900" y="3644900"/>
            <a:ext cx="685800" cy="127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0" name="TextBox 19">
            <a:extLst>
              <a:ext uri="{FF2B5EF4-FFF2-40B4-BE49-F238E27FC236}">
                <a16:creationId xmlns:a16="http://schemas.microsoft.com/office/drawing/2014/main" id="{5AA83AFB-22AE-F0C6-C288-2890C0F3E6FF}"/>
              </a:ext>
            </a:extLst>
          </p:cNvPr>
          <p:cNvSpPr txBox="1"/>
          <p:nvPr/>
        </p:nvSpPr>
        <p:spPr>
          <a:xfrm>
            <a:off x="9098280" y="3563620"/>
            <a:ext cx="711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Analyze</a:t>
            </a:r>
          </a:p>
        </p:txBody>
      </p:sp>
      <p:sp>
        <p:nvSpPr>
          <p:cNvPr id="21" name="TextBox 20">
            <a:extLst>
              <a:ext uri="{FF2B5EF4-FFF2-40B4-BE49-F238E27FC236}">
                <a16:creationId xmlns:a16="http://schemas.microsoft.com/office/drawing/2014/main" id="{CEAF2B5C-5517-289B-32EA-053D9C74C83A}"/>
              </a:ext>
            </a:extLst>
          </p:cNvPr>
          <p:cNvSpPr txBox="1"/>
          <p:nvPr/>
        </p:nvSpPr>
        <p:spPr>
          <a:xfrm>
            <a:off x="9113520" y="4056380"/>
            <a:ext cx="9144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Calibri"/>
                <a:cs typeface="Calibri"/>
              </a:rPr>
              <a:t>Prepared data</a:t>
            </a:r>
          </a:p>
        </p:txBody>
      </p:sp>
      <p:pic>
        <p:nvPicPr>
          <p:cNvPr id="2" name="Picture 1" descr="A blue logo with a circular object and a gear in the middle&#10;&#10;AI-generated content may be incorrect.">
            <a:extLst>
              <a:ext uri="{FF2B5EF4-FFF2-40B4-BE49-F238E27FC236}">
                <a16:creationId xmlns:a16="http://schemas.microsoft.com/office/drawing/2014/main" id="{8D85AEB4-6BB6-57E1-EE18-9F2D1F35229B}"/>
              </a:ext>
            </a:extLst>
          </p:cNvPr>
          <p:cNvPicPr>
            <a:picLocks noChangeAspect="1"/>
          </p:cNvPicPr>
          <p:nvPr/>
        </p:nvPicPr>
        <p:blipFill>
          <a:blip r:embed="rId5"/>
          <a:stretch>
            <a:fillRect/>
          </a:stretch>
        </p:blipFill>
        <p:spPr>
          <a:xfrm>
            <a:off x="7857301" y="3419583"/>
            <a:ext cx="1331244" cy="1106707"/>
          </a:xfrm>
          <a:prstGeom prst="rect">
            <a:avLst/>
          </a:prstGeom>
        </p:spPr>
      </p:pic>
      <p:sp>
        <p:nvSpPr>
          <p:cNvPr id="7" name="TextBox 6">
            <a:extLst>
              <a:ext uri="{FF2B5EF4-FFF2-40B4-BE49-F238E27FC236}">
                <a16:creationId xmlns:a16="http://schemas.microsoft.com/office/drawing/2014/main" id="{A0E9DF56-8FB0-FD96-0EAF-2AF19CD6215F}"/>
              </a:ext>
            </a:extLst>
          </p:cNvPr>
          <p:cNvSpPr txBox="1"/>
          <p:nvPr/>
        </p:nvSpPr>
        <p:spPr>
          <a:xfrm>
            <a:off x="576580" y="1323226"/>
            <a:ext cx="4368602" cy="178448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cap="all">
                <a:latin typeface="+mj-lt"/>
                <a:ea typeface="+mj-ea"/>
                <a:cs typeface="+mj-cs"/>
              </a:rPr>
              <a:t>SOLUTION OVERVIEW</a:t>
            </a:r>
            <a:r>
              <a:rPr lang="en-US" sz="4000" b="1" cap="all">
                <a:latin typeface="+mj-lt"/>
                <a:ea typeface="+mj-ea"/>
                <a:cs typeface="+mj-cs"/>
              </a:rPr>
              <a:t> </a:t>
            </a:r>
            <a:endParaRPr lang="en-US" sz="4000" cap="all">
              <a:latin typeface="+mj-lt"/>
              <a:ea typeface="Calibri Light"/>
              <a:cs typeface="Calibri Light"/>
            </a:endParaRPr>
          </a:p>
          <a:p>
            <a:pPr marL="0" marR="0">
              <a:lnSpc>
                <a:spcPct val="90000"/>
              </a:lnSpc>
              <a:spcBef>
                <a:spcPct val="0"/>
              </a:spcBef>
              <a:spcAft>
                <a:spcPts val="600"/>
              </a:spcAft>
            </a:pPr>
            <a:endParaRPr lang="en-US" sz="4000" b="1" cap="all">
              <a:latin typeface="+mj-lt"/>
              <a:ea typeface="Calibri Light"/>
              <a:cs typeface="Calibri Light"/>
            </a:endParaRPr>
          </a:p>
        </p:txBody>
      </p:sp>
      <p:sp>
        <p:nvSpPr>
          <p:cNvPr id="29" name="sketchy line">
            <a:extLst>
              <a:ext uri="{FF2B5EF4-FFF2-40B4-BE49-F238E27FC236}">
                <a16:creationId xmlns:a16="http://schemas.microsoft.com/office/drawing/2014/main" id="{67F76A8D-94EA-E5C4-90AF-2F7A59277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A98294D-5768-74F7-F6DE-2F3082F2DFA7}"/>
              </a:ext>
            </a:extLst>
          </p:cNvPr>
          <p:cNvSpPr txBox="1"/>
          <p:nvPr/>
        </p:nvSpPr>
        <p:spPr>
          <a:xfrm>
            <a:off x="640080" y="2872899"/>
            <a:ext cx="4243589" cy="3674453"/>
          </a:xfrm>
          <a:prstGeom prst="rect">
            <a:avLst/>
          </a:prstGeom>
        </p:spPr>
        <p:txBody>
          <a:bodyPr vert="horz" lIns="91440" tIns="45720" rIns="91440" bIns="45720" rtlCol="0" anchor="t">
            <a:noAutofit/>
          </a:bodyPr>
          <a:lstStyle/>
          <a:p>
            <a:pPr marL="285750" indent="-285750">
              <a:lnSpc>
                <a:spcPct val="90000"/>
              </a:lnSpc>
              <a:spcAft>
                <a:spcPts val="600"/>
              </a:spcAft>
              <a:buFont typeface="Arial"/>
              <a:buChar char="•"/>
            </a:pPr>
            <a:r>
              <a:rPr lang="en-US" sz="1400">
                <a:ea typeface="+mn-lt"/>
                <a:cs typeface="+mn-lt"/>
              </a:rPr>
              <a:t>We used the </a:t>
            </a:r>
            <a:r>
              <a:rPr lang="en-US" sz="1400" b="1">
                <a:ea typeface="+mn-lt"/>
                <a:cs typeface="+mn-lt"/>
              </a:rPr>
              <a:t>blood bank dataset given</a:t>
            </a:r>
            <a:r>
              <a:rPr lang="en-US" sz="1400">
                <a:ea typeface="+mn-lt"/>
                <a:cs typeface="+mn-lt"/>
              </a:rPr>
              <a:t> as source data</a:t>
            </a:r>
            <a:r>
              <a:rPr lang="en-US" sz="1400">
                <a:effectLst/>
                <a:ea typeface="+mn-lt"/>
                <a:cs typeface="+mn-lt"/>
              </a:rPr>
              <a:t>.</a:t>
            </a:r>
            <a:endParaRPr lang="en-US" sz="1400" b="1">
              <a:ea typeface="+mn-lt"/>
              <a:cs typeface="+mn-lt"/>
            </a:endParaRPr>
          </a:p>
          <a:p>
            <a:pPr indent="-228600">
              <a:lnSpc>
                <a:spcPct val="90000"/>
              </a:lnSpc>
              <a:spcAft>
                <a:spcPts val="600"/>
              </a:spcAft>
              <a:buFont typeface="Arial" panose="020B0604020202020204" pitchFamily="34" charset="0"/>
              <a:buChar char="•"/>
            </a:pPr>
            <a:endParaRPr lang="en-US" sz="1400">
              <a:ea typeface="Calibri"/>
              <a:cs typeface="Calibri"/>
            </a:endParaRPr>
          </a:p>
          <a:p>
            <a:pPr marL="285750" indent="-285750">
              <a:lnSpc>
                <a:spcPct val="90000"/>
              </a:lnSpc>
              <a:spcAft>
                <a:spcPts val="600"/>
              </a:spcAft>
              <a:buFont typeface="Arial"/>
              <a:buChar char="•"/>
            </a:pPr>
            <a:r>
              <a:rPr lang="en-US" sz="1400">
                <a:ea typeface="+mn-lt"/>
                <a:cs typeface="+mn-lt"/>
              </a:rPr>
              <a:t>The source data was loaded into </a:t>
            </a:r>
            <a:r>
              <a:rPr lang="en-US" sz="1400" b="1">
                <a:ea typeface="+mn-lt"/>
                <a:cs typeface="+mn-lt"/>
              </a:rPr>
              <a:t>data warehouse</a:t>
            </a:r>
            <a:r>
              <a:rPr lang="en-US" sz="1400">
                <a:ea typeface="+mn-lt"/>
                <a:cs typeface="+mn-lt"/>
              </a:rPr>
              <a:t> for further processing.</a:t>
            </a:r>
            <a:endParaRPr lang="en-US" sz="1400">
              <a:ea typeface="Calibri" panose="020F0502020204030204"/>
              <a:cs typeface="Calibri" panose="020F0502020204030204"/>
            </a:endParaRPr>
          </a:p>
          <a:p>
            <a:pPr indent="-228600">
              <a:lnSpc>
                <a:spcPct val="90000"/>
              </a:lnSpc>
              <a:spcAft>
                <a:spcPts val="600"/>
              </a:spcAft>
              <a:buFont typeface="Arial" panose="020B0604020202020204" pitchFamily="34" charset="0"/>
              <a:buChar char="•"/>
            </a:pPr>
            <a:endParaRPr lang="en-US" sz="1400"/>
          </a:p>
          <a:p>
            <a:pPr marL="285750" indent="-285750">
              <a:lnSpc>
                <a:spcPct val="90000"/>
              </a:lnSpc>
              <a:spcAft>
                <a:spcPts val="600"/>
              </a:spcAft>
              <a:buFont typeface="Arial"/>
              <a:buChar char="•"/>
            </a:pPr>
            <a:r>
              <a:rPr lang="en-US" sz="1400">
                <a:ea typeface="Calibri"/>
                <a:cs typeface="Calibri"/>
              </a:rPr>
              <a:t>Built a layered data pipeline to clean, transform and organize the data.</a:t>
            </a:r>
          </a:p>
          <a:p>
            <a:pPr indent="-228600">
              <a:lnSpc>
                <a:spcPct val="90000"/>
              </a:lnSpc>
              <a:spcAft>
                <a:spcPts val="600"/>
              </a:spcAft>
              <a:buFont typeface="Arial" panose="020B0604020202020204" pitchFamily="34" charset="0"/>
              <a:buChar char="•"/>
            </a:pPr>
            <a:endParaRPr lang="en-US" sz="1400"/>
          </a:p>
          <a:p>
            <a:pPr marL="285750" indent="-285750">
              <a:lnSpc>
                <a:spcPct val="90000"/>
              </a:lnSpc>
              <a:spcAft>
                <a:spcPts val="600"/>
              </a:spcAft>
              <a:buFont typeface="Arial"/>
              <a:buChar char="•"/>
            </a:pPr>
            <a:r>
              <a:rPr lang="en-US" sz="1400">
                <a:ea typeface="Calibri"/>
                <a:cs typeface="Calibri"/>
              </a:rPr>
              <a:t>The prepared data was used to generate reports and derive business insights </a:t>
            </a:r>
          </a:p>
        </p:txBody>
      </p:sp>
    </p:spTree>
    <p:extLst>
      <p:ext uri="{BB962C8B-B14F-4D97-AF65-F5344CB8AC3E}">
        <p14:creationId xmlns:p14="http://schemas.microsoft.com/office/powerpoint/2010/main" val="649440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2BCF24-9EFD-82A8-F243-C6E3B39049AA}"/>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95F3BC6-F9FA-618F-DC88-099812DF10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ketchy line">
            <a:extLst>
              <a:ext uri="{FF2B5EF4-FFF2-40B4-BE49-F238E27FC236}">
                <a16:creationId xmlns:a16="http://schemas.microsoft.com/office/drawing/2014/main" id="{BEFEF4AE-D9FF-D09A-214E-5A1F5ACD9B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F9CDF7-DF91-EE60-FCDD-0A3E695DD64F}"/>
              </a:ext>
            </a:extLst>
          </p:cNvPr>
          <p:cNvSpPr txBox="1"/>
          <p:nvPr/>
        </p:nvSpPr>
        <p:spPr>
          <a:xfrm>
            <a:off x="640080" y="2872899"/>
            <a:ext cx="4524803" cy="3719810"/>
          </a:xfrm>
          <a:prstGeom prst="rect">
            <a:avLst/>
          </a:prstGeom>
        </p:spPr>
        <p:txBody>
          <a:bodyPr vert="horz" lIns="91440" tIns="45720" rIns="91440" bIns="45720" rtlCol="0" anchor="t">
            <a:noAutofit/>
          </a:bodyPr>
          <a:lstStyle/>
          <a:p>
            <a:pPr marL="285750" indent="-285750">
              <a:buFont typeface="Arial,Sans-Serif"/>
              <a:buChar char="•"/>
            </a:pPr>
            <a:r>
              <a:rPr lang="en-US" sz="1400" b="1" dirty="0">
                <a:ea typeface="+mn-lt"/>
                <a:cs typeface="+mn-lt"/>
              </a:rPr>
              <a:t>Python</a:t>
            </a:r>
            <a:r>
              <a:rPr lang="en-US" sz="1400" dirty="0">
                <a:ea typeface="+mn-lt"/>
                <a:cs typeface="+mn-lt"/>
              </a:rPr>
              <a:t> was used to generate large-scale </a:t>
            </a:r>
            <a:r>
              <a:rPr lang="en-US" sz="1400">
                <a:ea typeface="+mn-lt"/>
                <a:cs typeface="+mn-lt"/>
              </a:rPr>
              <a:t>mock data</a:t>
            </a:r>
            <a:r>
              <a:rPr lang="en-US" sz="1400" dirty="0">
                <a:ea typeface="+mn-lt"/>
                <a:cs typeface="+mn-lt"/>
              </a:rPr>
              <a:t> for fact and dimension tables.</a:t>
            </a:r>
          </a:p>
          <a:p>
            <a:endParaRPr lang="en-US" sz="1400" b="1" dirty="0">
              <a:ea typeface="+mn-lt"/>
              <a:cs typeface="+mn-lt"/>
            </a:endParaRPr>
          </a:p>
          <a:p>
            <a:pPr marL="285750" indent="-285750">
              <a:buFont typeface="Arial"/>
              <a:buChar char="•"/>
            </a:pPr>
            <a:r>
              <a:rPr lang="en-US" sz="1400" b="1" dirty="0" err="1">
                <a:ea typeface="+mn-lt"/>
                <a:cs typeface="+mn-lt"/>
              </a:rPr>
              <a:t>dbt</a:t>
            </a:r>
            <a:r>
              <a:rPr lang="en-US" sz="1400" dirty="0">
                <a:ea typeface="+mn-lt"/>
                <a:cs typeface="+mn-lt"/>
              </a:rPr>
              <a:t> helps us clean and transform raw data and build the analytical data used for reporting.</a:t>
            </a:r>
            <a:endParaRPr lang="en-US" sz="1400" b="1" dirty="0">
              <a:ea typeface="+mn-lt"/>
              <a:cs typeface="+mn-lt"/>
            </a:endParaRPr>
          </a:p>
          <a:p>
            <a:pPr>
              <a:buFont typeface="Arial"/>
              <a:buChar char="•"/>
            </a:pPr>
            <a:endParaRPr lang="en-US" sz="1400">
              <a:ea typeface="+mn-lt"/>
              <a:cs typeface="+mn-lt"/>
            </a:endParaRPr>
          </a:p>
          <a:p>
            <a:pPr marL="285750" indent="-285750">
              <a:buFont typeface="Arial"/>
              <a:buChar char="•"/>
            </a:pPr>
            <a:r>
              <a:rPr lang="en-US" sz="1400" b="1">
                <a:ea typeface="+mn-lt"/>
                <a:cs typeface="+mn-lt"/>
              </a:rPr>
              <a:t>SQL</a:t>
            </a:r>
            <a:r>
              <a:rPr lang="en-US" sz="1400">
                <a:ea typeface="+mn-lt"/>
                <a:cs typeface="+mn-lt"/>
              </a:rPr>
              <a:t> was used to write queries for transforming data and writing reporting queries.</a:t>
            </a:r>
          </a:p>
          <a:p>
            <a:pPr>
              <a:buFont typeface="Arial"/>
              <a:buChar char="•"/>
            </a:pPr>
            <a:endParaRPr lang="en-US" sz="1400">
              <a:ea typeface="+mn-lt"/>
              <a:cs typeface="+mn-lt"/>
            </a:endParaRPr>
          </a:p>
          <a:p>
            <a:pPr marL="285750" indent="-285750">
              <a:buFont typeface="Arial"/>
              <a:buChar char="•"/>
            </a:pPr>
            <a:r>
              <a:rPr lang="en-US" sz="1400" b="1">
                <a:ea typeface="+mn-lt"/>
                <a:cs typeface="+mn-lt"/>
              </a:rPr>
              <a:t>PostgreSQL</a:t>
            </a:r>
            <a:r>
              <a:rPr lang="en-US" sz="1400">
                <a:ea typeface="+mn-lt"/>
                <a:cs typeface="+mn-lt"/>
              </a:rPr>
              <a:t> was used as the data warehouse to store processed data and run analytical queries.</a:t>
            </a:r>
            <a:endParaRPr lang="en-US">
              <a:ea typeface="+mn-lt"/>
              <a:cs typeface="+mn-lt"/>
            </a:endParaRPr>
          </a:p>
          <a:p>
            <a:endParaRPr lang="en-US" sz="1400" dirty="0">
              <a:ea typeface="+mn-lt"/>
              <a:cs typeface="+mn-lt"/>
            </a:endParaRPr>
          </a:p>
          <a:p>
            <a:pPr marL="285750" indent="-285750">
              <a:buFont typeface="Arial"/>
              <a:buChar char="•"/>
            </a:pPr>
            <a:r>
              <a:rPr lang="en-US" sz="1400" b="1" dirty="0">
                <a:ea typeface="+mn-lt"/>
                <a:cs typeface="+mn-lt"/>
              </a:rPr>
              <a:t>Git</a:t>
            </a:r>
            <a:r>
              <a:rPr lang="en-US" sz="1400">
                <a:ea typeface="+mn-lt"/>
                <a:cs typeface="+mn-lt"/>
              </a:rPr>
              <a:t> was used to manage versions of the code and track changes.</a:t>
            </a:r>
          </a:p>
          <a:p>
            <a:endParaRPr lang="en-US" sz="1400" dirty="0">
              <a:ea typeface="+mn-lt"/>
              <a:cs typeface="+mn-lt"/>
            </a:endParaRPr>
          </a:p>
          <a:p>
            <a:pPr marL="285750" indent="-285750">
              <a:buFont typeface="Arial"/>
              <a:buChar char="•"/>
            </a:pPr>
            <a:r>
              <a:rPr lang="en-US" sz="1400" b="1">
                <a:ea typeface="+mn-lt"/>
                <a:cs typeface="+mn-lt"/>
              </a:rPr>
              <a:t>Microsoft Power BI</a:t>
            </a:r>
            <a:r>
              <a:rPr lang="en-US" sz="1400">
                <a:ea typeface="+mn-lt"/>
                <a:cs typeface="+mn-lt"/>
              </a:rPr>
              <a:t> was used to create reports and dashboards to visualize insights from the data</a:t>
            </a:r>
            <a:r>
              <a:rPr lang="en-US" sz="1400">
                <a:effectLst/>
                <a:ea typeface="+mn-lt"/>
                <a:cs typeface="+mn-lt"/>
              </a:rPr>
              <a:t>.</a:t>
            </a:r>
            <a:endParaRPr lang="en-US">
              <a:ea typeface="+mn-lt"/>
              <a:cs typeface="+mn-lt"/>
            </a:endParaRPr>
          </a:p>
          <a:p>
            <a:pPr>
              <a:buFont typeface="Arial"/>
              <a:buChar char="•"/>
            </a:pPr>
            <a:endParaRPr lang="en-US" sz="1400">
              <a:ea typeface="+mn-lt"/>
              <a:cs typeface="+mn-lt"/>
            </a:endParaRPr>
          </a:p>
          <a:p>
            <a:endParaRPr lang="en-US" sz="1400">
              <a:ea typeface="+mn-lt"/>
              <a:cs typeface="+mn-lt"/>
            </a:endParaRPr>
          </a:p>
          <a:p>
            <a:pPr marL="171450" marR="0" indent="-171450">
              <a:lnSpc>
                <a:spcPct val="90000"/>
              </a:lnSpc>
              <a:spcAft>
                <a:spcPts val="600"/>
              </a:spcAft>
              <a:buFont typeface="Arial"/>
              <a:buChar char="•"/>
            </a:pPr>
            <a:endParaRPr lang="en-US" sz="1400" b="1">
              <a:ea typeface="Calibri"/>
              <a:cs typeface="Calibri"/>
            </a:endParaRPr>
          </a:p>
        </p:txBody>
      </p:sp>
      <p:sp>
        <p:nvSpPr>
          <p:cNvPr id="2" name="TextBox 1">
            <a:extLst>
              <a:ext uri="{FF2B5EF4-FFF2-40B4-BE49-F238E27FC236}">
                <a16:creationId xmlns:a16="http://schemas.microsoft.com/office/drawing/2014/main" id="{76671150-1F8A-B7D5-D018-18BBEA7465A0}"/>
              </a:ext>
            </a:extLst>
          </p:cNvPr>
          <p:cNvSpPr txBox="1"/>
          <p:nvPr/>
        </p:nvSpPr>
        <p:spPr>
          <a:xfrm>
            <a:off x="644071" y="1370121"/>
            <a:ext cx="4497078"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baseline="0">
                <a:latin typeface="Calibri Light"/>
              </a:rPr>
              <a:t>TOOLS </a:t>
            </a:r>
            <a:r>
              <a:rPr lang="en-US" sz="3200" b="1">
                <a:latin typeface="Calibri Light"/>
              </a:rPr>
              <a:t>AND TECHNOLOGIES USED</a:t>
            </a:r>
            <a:endParaRPr lang="en-US"/>
          </a:p>
          <a:p>
            <a:pPr algn="ctr"/>
            <a:endParaRPr lang="en-US"/>
          </a:p>
        </p:txBody>
      </p:sp>
      <p:pic>
        <p:nvPicPr>
          <p:cNvPr id="6" name="Content Placeholder 5" descr="A person and person sitting at a table with laptops&#10;&#10;AI-generated content may be incorrect.">
            <a:extLst>
              <a:ext uri="{FF2B5EF4-FFF2-40B4-BE49-F238E27FC236}">
                <a16:creationId xmlns:a16="http://schemas.microsoft.com/office/drawing/2014/main" id="{8B3C5450-85D8-5E24-240B-57638F6ABD29}"/>
              </a:ext>
            </a:extLst>
          </p:cNvPr>
          <p:cNvPicPr>
            <a:picLocks noGrp="1" noChangeAspect="1"/>
          </p:cNvPicPr>
          <p:nvPr>
            <p:ph sz="half" idx="1"/>
          </p:nvPr>
        </p:nvPicPr>
        <p:blipFill>
          <a:blip r:embed="rId3"/>
          <a:stretch>
            <a:fillRect/>
          </a:stretch>
        </p:blipFill>
        <p:spPr>
          <a:xfrm>
            <a:off x="6574525" y="2946056"/>
            <a:ext cx="5181600" cy="2917794"/>
          </a:xfrm>
          <a:prstGeom prst="rect">
            <a:avLst/>
          </a:prstGeom>
        </p:spPr>
      </p:pic>
    </p:spTree>
    <p:extLst>
      <p:ext uri="{BB962C8B-B14F-4D97-AF65-F5344CB8AC3E}">
        <p14:creationId xmlns:p14="http://schemas.microsoft.com/office/powerpoint/2010/main" val="393704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798FB9-38FE-B341-3039-6EA5FC644425}"/>
            </a:ext>
          </a:extLst>
        </p:cNvPr>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C8898C29-0FBA-CEBE-75B7-2510278A7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Content Placeholder 3" descr="A black and white logo&#10;&#10;AI-generated content may be incorrect.">
            <a:extLst>
              <a:ext uri="{FF2B5EF4-FFF2-40B4-BE49-F238E27FC236}">
                <a16:creationId xmlns:a16="http://schemas.microsoft.com/office/drawing/2014/main" id="{C3B28198-1459-5CFA-C0E2-380407E02F56}"/>
              </a:ext>
            </a:extLst>
          </p:cNvPr>
          <p:cNvPicPr>
            <a:picLocks noChangeAspect="1"/>
          </p:cNvPicPr>
          <p:nvPr/>
        </p:nvPicPr>
        <p:blipFill>
          <a:blip r:embed="rId3"/>
          <a:stretch>
            <a:fillRect/>
          </a:stretch>
        </p:blipFill>
        <p:spPr>
          <a:xfrm>
            <a:off x="5405270" y="3200129"/>
            <a:ext cx="1494760" cy="1504167"/>
          </a:xfrm>
          <a:prstGeom prst="rect">
            <a:avLst/>
          </a:prstGeom>
        </p:spPr>
      </p:pic>
      <p:pic>
        <p:nvPicPr>
          <p:cNvPr id="61" name="Picture 60" descr="A computer screen with graph and gear&#10;&#10;AI-generated content may be incorrect.">
            <a:extLst>
              <a:ext uri="{FF2B5EF4-FFF2-40B4-BE49-F238E27FC236}">
                <a16:creationId xmlns:a16="http://schemas.microsoft.com/office/drawing/2014/main" id="{E79AF4F6-568A-779C-C7C0-2DD8DEF4C762}"/>
              </a:ext>
            </a:extLst>
          </p:cNvPr>
          <p:cNvPicPr>
            <a:picLocks noChangeAspect="1"/>
          </p:cNvPicPr>
          <p:nvPr/>
        </p:nvPicPr>
        <p:blipFill>
          <a:blip r:embed="rId4"/>
          <a:stretch>
            <a:fillRect/>
          </a:stretch>
        </p:blipFill>
        <p:spPr>
          <a:xfrm>
            <a:off x="10199579" y="3567044"/>
            <a:ext cx="789410" cy="732966"/>
          </a:xfrm>
          <a:prstGeom prst="rect">
            <a:avLst/>
          </a:prstGeom>
        </p:spPr>
      </p:pic>
      <p:sp>
        <p:nvSpPr>
          <p:cNvPr id="63" name="Arrow: Right 62">
            <a:extLst>
              <a:ext uri="{FF2B5EF4-FFF2-40B4-BE49-F238E27FC236}">
                <a16:creationId xmlns:a16="http://schemas.microsoft.com/office/drawing/2014/main" id="{1FBBAE97-579F-4CEF-2CD2-BF14A510EB0A}"/>
              </a:ext>
            </a:extLst>
          </p:cNvPr>
          <p:cNvSpPr/>
          <p:nvPr/>
        </p:nvSpPr>
        <p:spPr>
          <a:xfrm>
            <a:off x="7254051" y="3861270"/>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Arrow: Right 64">
            <a:extLst>
              <a:ext uri="{FF2B5EF4-FFF2-40B4-BE49-F238E27FC236}">
                <a16:creationId xmlns:a16="http://schemas.microsoft.com/office/drawing/2014/main" id="{F7AAC1F7-BA4D-3240-5EDD-EFB30FCE929F}"/>
              </a:ext>
            </a:extLst>
          </p:cNvPr>
          <p:cNvSpPr/>
          <p:nvPr/>
        </p:nvSpPr>
        <p:spPr>
          <a:xfrm>
            <a:off x="9492168" y="3863226"/>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A8449969-BA68-C83F-31A3-423FE55D87F8}"/>
              </a:ext>
            </a:extLst>
          </p:cNvPr>
          <p:cNvSpPr txBox="1"/>
          <p:nvPr/>
        </p:nvSpPr>
        <p:spPr>
          <a:xfrm>
            <a:off x="5737819" y="4509991"/>
            <a:ext cx="8278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Source</a:t>
            </a:r>
          </a:p>
        </p:txBody>
      </p:sp>
      <p:sp>
        <p:nvSpPr>
          <p:cNvPr id="71" name="TextBox 70">
            <a:extLst>
              <a:ext uri="{FF2B5EF4-FFF2-40B4-BE49-F238E27FC236}">
                <a16:creationId xmlns:a16="http://schemas.microsoft.com/office/drawing/2014/main" id="{DE7E9AB2-41F3-8D1B-EF65-9B773C9AD2CF}"/>
              </a:ext>
            </a:extLst>
          </p:cNvPr>
          <p:cNvSpPr txBox="1"/>
          <p:nvPr/>
        </p:nvSpPr>
        <p:spPr>
          <a:xfrm>
            <a:off x="8355192" y="4520886"/>
            <a:ext cx="139888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PostgreSQL</a:t>
            </a:r>
          </a:p>
        </p:txBody>
      </p:sp>
      <p:sp>
        <p:nvSpPr>
          <p:cNvPr id="73" name="TextBox 72">
            <a:extLst>
              <a:ext uri="{FF2B5EF4-FFF2-40B4-BE49-F238E27FC236}">
                <a16:creationId xmlns:a16="http://schemas.microsoft.com/office/drawing/2014/main" id="{8ABCE08A-4750-7CCB-C774-89C368147DD5}"/>
              </a:ext>
            </a:extLst>
          </p:cNvPr>
          <p:cNvSpPr txBox="1"/>
          <p:nvPr/>
        </p:nvSpPr>
        <p:spPr>
          <a:xfrm>
            <a:off x="10267823" y="4503443"/>
            <a:ext cx="8691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Power BI</a:t>
            </a:r>
          </a:p>
        </p:txBody>
      </p:sp>
      <p:sp>
        <p:nvSpPr>
          <p:cNvPr id="75" name="Arrow: Right 74">
            <a:extLst>
              <a:ext uri="{FF2B5EF4-FFF2-40B4-BE49-F238E27FC236}">
                <a16:creationId xmlns:a16="http://schemas.microsoft.com/office/drawing/2014/main" id="{D20CCD77-1D4C-DDB8-BD10-B19D4CB403BC}"/>
              </a:ext>
            </a:extLst>
          </p:cNvPr>
          <p:cNvSpPr/>
          <p:nvPr/>
        </p:nvSpPr>
        <p:spPr>
          <a:xfrm>
            <a:off x="6623755" y="3851863"/>
            <a:ext cx="523523" cy="192853"/>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E3AE031C-6FC8-C6B9-2417-5BF2A2A134B3}"/>
              </a:ext>
            </a:extLst>
          </p:cNvPr>
          <p:cNvSpPr txBox="1"/>
          <p:nvPr/>
        </p:nvSpPr>
        <p:spPr>
          <a:xfrm>
            <a:off x="6563549" y="3567289"/>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Extract</a:t>
            </a:r>
          </a:p>
        </p:txBody>
      </p:sp>
      <p:sp>
        <p:nvSpPr>
          <p:cNvPr id="79" name="TextBox 78">
            <a:extLst>
              <a:ext uri="{FF2B5EF4-FFF2-40B4-BE49-F238E27FC236}">
                <a16:creationId xmlns:a16="http://schemas.microsoft.com/office/drawing/2014/main" id="{BF2186BB-89F3-1555-3E4A-5F4F861825C5}"/>
              </a:ext>
            </a:extLst>
          </p:cNvPr>
          <p:cNvSpPr txBox="1"/>
          <p:nvPr/>
        </p:nvSpPr>
        <p:spPr>
          <a:xfrm>
            <a:off x="7254805" y="3576696"/>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Load</a:t>
            </a:r>
          </a:p>
        </p:txBody>
      </p:sp>
      <p:sp>
        <p:nvSpPr>
          <p:cNvPr id="81" name="TextBox 80">
            <a:extLst>
              <a:ext uri="{FF2B5EF4-FFF2-40B4-BE49-F238E27FC236}">
                <a16:creationId xmlns:a16="http://schemas.microsoft.com/office/drawing/2014/main" id="{11C1055C-75AF-2379-C6DE-6E3C4EFF3B46}"/>
              </a:ext>
            </a:extLst>
          </p:cNvPr>
          <p:cNvSpPr txBox="1"/>
          <p:nvPr/>
        </p:nvSpPr>
        <p:spPr>
          <a:xfrm>
            <a:off x="9232900" y="3644900"/>
            <a:ext cx="685800" cy="127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3" name="TextBox 82">
            <a:extLst>
              <a:ext uri="{FF2B5EF4-FFF2-40B4-BE49-F238E27FC236}">
                <a16:creationId xmlns:a16="http://schemas.microsoft.com/office/drawing/2014/main" id="{7FBE579C-3841-0596-801A-0C5D163693BC}"/>
              </a:ext>
            </a:extLst>
          </p:cNvPr>
          <p:cNvSpPr txBox="1"/>
          <p:nvPr/>
        </p:nvSpPr>
        <p:spPr>
          <a:xfrm>
            <a:off x="9490004" y="3573027"/>
            <a:ext cx="711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Analyze</a:t>
            </a:r>
          </a:p>
        </p:txBody>
      </p:sp>
      <p:sp>
        <p:nvSpPr>
          <p:cNvPr id="85" name="TextBox 84">
            <a:extLst>
              <a:ext uri="{FF2B5EF4-FFF2-40B4-BE49-F238E27FC236}">
                <a16:creationId xmlns:a16="http://schemas.microsoft.com/office/drawing/2014/main" id="{79151413-ADEF-CFA9-0634-D083EAAC33B7}"/>
              </a:ext>
            </a:extLst>
          </p:cNvPr>
          <p:cNvSpPr txBox="1"/>
          <p:nvPr/>
        </p:nvSpPr>
        <p:spPr>
          <a:xfrm>
            <a:off x="9490193" y="4046220"/>
            <a:ext cx="7823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Calibri"/>
                <a:cs typeface="Calibri"/>
              </a:rPr>
              <a:t>Prepared data</a:t>
            </a:r>
          </a:p>
        </p:txBody>
      </p:sp>
      <p:sp>
        <p:nvSpPr>
          <p:cNvPr id="7" name="TextBox 6">
            <a:extLst>
              <a:ext uri="{FF2B5EF4-FFF2-40B4-BE49-F238E27FC236}">
                <a16:creationId xmlns:a16="http://schemas.microsoft.com/office/drawing/2014/main" id="{E9ADFDAC-E8E4-CDFC-039A-5ED96AFE96D7}"/>
              </a:ext>
            </a:extLst>
          </p:cNvPr>
          <p:cNvSpPr txBox="1"/>
          <p:nvPr/>
        </p:nvSpPr>
        <p:spPr>
          <a:xfrm>
            <a:off x="623617" y="1323226"/>
            <a:ext cx="4274528" cy="2320706"/>
          </a:xfrm>
          <a:prstGeom prst="rect">
            <a:avLst/>
          </a:prstGeom>
        </p:spPr>
        <p:txBody>
          <a:bodyPr vert="horz" lIns="91440" tIns="45720" rIns="91440" bIns="45720" rtlCol="0" anchor="b">
            <a:normAutofit/>
          </a:bodyPr>
          <a:lstStyle/>
          <a:p>
            <a:r>
              <a:rPr lang="en-US" sz="3200" b="1" cap="all">
                <a:latin typeface="+mj-lt"/>
                <a:ea typeface="+mj-ea"/>
                <a:cs typeface="+mj-cs"/>
              </a:rPr>
              <a:t>Data WAREHOUSE Architecture </a:t>
            </a:r>
            <a:endParaRPr lang="en-US" sz="3200" cap="all">
              <a:latin typeface="+mj-lt"/>
              <a:ea typeface="+mj-ea"/>
              <a:cs typeface="+mj-cs"/>
            </a:endParaRPr>
          </a:p>
          <a:p>
            <a:pPr>
              <a:lnSpc>
                <a:spcPct val="90000"/>
              </a:lnSpc>
              <a:spcBef>
                <a:spcPct val="0"/>
              </a:spcBef>
              <a:spcAft>
                <a:spcPts val="600"/>
              </a:spcAft>
            </a:pPr>
            <a:endParaRPr lang="en-US" sz="4000" b="1" cap="all">
              <a:latin typeface="+mj-lt"/>
              <a:ea typeface="Calibri Light"/>
              <a:cs typeface="Calibri Light"/>
            </a:endParaRPr>
          </a:p>
          <a:p>
            <a:pPr marL="0" marR="0">
              <a:lnSpc>
                <a:spcPct val="90000"/>
              </a:lnSpc>
              <a:spcBef>
                <a:spcPct val="0"/>
              </a:spcBef>
              <a:spcAft>
                <a:spcPts val="600"/>
              </a:spcAft>
            </a:pPr>
            <a:endParaRPr lang="en-US" sz="4000" b="1" cap="all">
              <a:latin typeface="+mj-lt"/>
              <a:ea typeface="Calibri Light"/>
              <a:cs typeface="Calibri Light"/>
            </a:endParaRPr>
          </a:p>
        </p:txBody>
      </p:sp>
      <p:sp>
        <p:nvSpPr>
          <p:cNvPr id="29" name="sketchy line">
            <a:extLst>
              <a:ext uri="{FF2B5EF4-FFF2-40B4-BE49-F238E27FC236}">
                <a16:creationId xmlns:a16="http://schemas.microsoft.com/office/drawing/2014/main" id="{A940FA23-C2D4-4D9E-5B83-37A2CD3112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597C89-DC29-31C2-2DCC-4BC60C84341B}"/>
              </a:ext>
            </a:extLst>
          </p:cNvPr>
          <p:cNvSpPr txBox="1"/>
          <p:nvPr/>
        </p:nvSpPr>
        <p:spPr>
          <a:xfrm>
            <a:off x="640080" y="2872899"/>
            <a:ext cx="4243589" cy="3674453"/>
          </a:xfrm>
          <a:prstGeom prst="rect">
            <a:avLst/>
          </a:prstGeom>
        </p:spPr>
        <p:txBody>
          <a:bodyPr vert="horz" lIns="91440" tIns="45720" rIns="91440" bIns="45720" rtlCol="0" anchor="t">
            <a:noAutofit/>
          </a:bodyPr>
          <a:lstStyle/>
          <a:p>
            <a:pPr marL="285750" indent="-285750">
              <a:lnSpc>
                <a:spcPct val="90000"/>
              </a:lnSpc>
              <a:spcAft>
                <a:spcPts val="600"/>
              </a:spcAft>
              <a:buFont typeface="Arial"/>
              <a:buChar char="•"/>
            </a:pPr>
            <a:r>
              <a:rPr lang="en-US" sz="1400" b="1">
                <a:ea typeface="Calibri"/>
                <a:cs typeface="Calibri"/>
              </a:rPr>
              <a:t>Raw Layer</a:t>
            </a:r>
            <a:endParaRPr lang="en-US" sz="1400">
              <a:ea typeface="Calibri"/>
              <a:cs typeface="Calibri"/>
            </a:endParaRPr>
          </a:p>
          <a:p>
            <a:pPr>
              <a:lnSpc>
                <a:spcPct val="90000"/>
              </a:lnSpc>
              <a:spcAft>
                <a:spcPts val="600"/>
              </a:spcAft>
            </a:pPr>
            <a:r>
              <a:rPr lang="en-US" sz="1400">
                <a:ea typeface="Calibri"/>
                <a:cs typeface="Calibri"/>
              </a:rPr>
              <a:t>   Source dataset tables are </a:t>
            </a:r>
            <a:r>
              <a:rPr lang="en-US" sz="1400" b="1">
                <a:ea typeface="Calibri"/>
                <a:cs typeface="Calibri"/>
              </a:rPr>
              <a:t>replicated in the warehouse </a:t>
            </a:r>
            <a:r>
              <a:rPr lang="en-US" sz="1400">
                <a:ea typeface="Calibri"/>
                <a:cs typeface="Calibri"/>
              </a:rPr>
              <a:t>and assumed that data is already extracted into raw layer.</a:t>
            </a:r>
          </a:p>
          <a:p>
            <a:pPr>
              <a:lnSpc>
                <a:spcPct val="90000"/>
              </a:lnSpc>
              <a:spcAft>
                <a:spcPts val="600"/>
              </a:spcAft>
            </a:pPr>
            <a:endParaRPr lang="en-US" sz="1400">
              <a:ea typeface="Calibri"/>
              <a:cs typeface="Calibri"/>
            </a:endParaRPr>
          </a:p>
          <a:p>
            <a:pPr marL="285750" indent="-228600">
              <a:lnSpc>
                <a:spcPct val="90000"/>
              </a:lnSpc>
              <a:spcAft>
                <a:spcPts val="600"/>
              </a:spcAft>
              <a:buFont typeface="Arial"/>
              <a:buChar char="•"/>
            </a:pPr>
            <a:r>
              <a:rPr lang="en-US" sz="1400" b="1">
                <a:ea typeface="Calibri"/>
                <a:cs typeface="Calibri"/>
              </a:rPr>
              <a:t>Staging Layer</a:t>
            </a:r>
            <a:endParaRPr lang="en-US" sz="1400">
              <a:ea typeface="Calibri"/>
              <a:cs typeface="Calibri"/>
            </a:endParaRPr>
          </a:p>
          <a:p>
            <a:pPr>
              <a:lnSpc>
                <a:spcPct val="90000"/>
              </a:lnSpc>
              <a:spcAft>
                <a:spcPts val="600"/>
              </a:spcAft>
            </a:pPr>
            <a:r>
              <a:rPr lang="en-US" sz="1400">
                <a:ea typeface="Calibri"/>
                <a:cs typeface="Calibri"/>
              </a:rPr>
              <a:t>   Data is cleaned, standardized, and validated  for further processing.</a:t>
            </a:r>
          </a:p>
          <a:p>
            <a:pPr marL="285750" indent="-228600">
              <a:lnSpc>
                <a:spcPct val="90000"/>
              </a:lnSpc>
              <a:spcAft>
                <a:spcPts val="600"/>
              </a:spcAft>
              <a:buFont typeface="Arial"/>
              <a:buChar char="•"/>
            </a:pPr>
            <a:endParaRPr lang="en-US" sz="1400">
              <a:ea typeface="Calibri"/>
              <a:cs typeface="Calibri"/>
            </a:endParaRPr>
          </a:p>
          <a:p>
            <a:pPr marL="285750" indent="-228600">
              <a:lnSpc>
                <a:spcPct val="90000"/>
              </a:lnSpc>
              <a:spcAft>
                <a:spcPts val="600"/>
              </a:spcAft>
              <a:buFont typeface="Arial"/>
              <a:buChar char="•"/>
            </a:pPr>
            <a:r>
              <a:rPr lang="en-US" sz="1400" b="1">
                <a:ea typeface="Calibri"/>
                <a:cs typeface="Calibri"/>
              </a:rPr>
              <a:t>Analytics layer</a:t>
            </a:r>
            <a:endParaRPr lang="en-US" sz="1400">
              <a:ea typeface="Calibri"/>
              <a:cs typeface="Calibri"/>
            </a:endParaRPr>
          </a:p>
          <a:p>
            <a:pPr marL="57150">
              <a:lnSpc>
                <a:spcPct val="90000"/>
              </a:lnSpc>
              <a:spcAft>
                <a:spcPts val="600"/>
              </a:spcAft>
            </a:pPr>
            <a:r>
              <a:rPr lang="en-US" sz="1400">
                <a:ea typeface="Calibri"/>
                <a:cs typeface="Calibri"/>
              </a:rPr>
              <a:t>  The data was structured into facts and dimensions and prepared to support reporting and analysis.</a:t>
            </a:r>
          </a:p>
          <a:p>
            <a:pPr marL="285750" indent="-228600">
              <a:lnSpc>
                <a:spcPct val="90000"/>
              </a:lnSpc>
              <a:spcAft>
                <a:spcPts val="600"/>
              </a:spcAft>
              <a:buFont typeface="Arial"/>
              <a:buChar char="•"/>
            </a:pPr>
            <a:endParaRPr lang="en-US" sz="1400">
              <a:ea typeface="Calibri"/>
              <a:cs typeface="Calibri"/>
            </a:endParaRPr>
          </a:p>
          <a:p>
            <a:pPr algn="r">
              <a:lnSpc>
                <a:spcPct val="90000"/>
              </a:lnSpc>
              <a:spcAft>
                <a:spcPts val="600"/>
              </a:spcAft>
            </a:pPr>
            <a:endParaRPr lang="en-US" sz="1400">
              <a:ea typeface="Calibri"/>
              <a:cs typeface="Calibri"/>
            </a:endParaRPr>
          </a:p>
          <a:p>
            <a:pPr marL="285750" indent="-228600">
              <a:lnSpc>
                <a:spcPct val="90000"/>
              </a:lnSpc>
              <a:spcAft>
                <a:spcPts val="600"/>
              </a:spcAft>
              <a:buFont typeface="Arial"/>
              <a:buChar char="•"/>
            </a:pPr>
            <a:endParaRPr lang="en-US" sz="1400">
              <a:ea typeface="Calibri"/>
              <a:cs typeface="Calibri"/>
            </a:endParaRPr>
          </a:p>
          <a:p>
            <a:pPr>
              <a:lnSpc>
                <a:spcPct val="90000"/>
              </a:lnSpc>
              <a:spcAft>
                <a:spcPts val="600"/>
              </a:spcAft>
            </a:pPr>
            <a:endParaRPr lang="en-US" sz="1400" b="1">
              <a:ea typeface="Calibri"/>
              <a:cs typeface="Calibri"/>
            </a:endParaRPr>
          </a:p>
        </p:txBody>
      </p:sp>
      <p:sp>
        <p:nvSpPr>
          <p:cNvPr id="2" name="TextBox 1">
            <a:extLst>
              <a:ext uri="{FF2B5EF4-FFF2-40B4-BE49-F238E27FC236}">
                <a16:creationId xmlns:a16="http://schemas.microsoft.com/office/drawing/2014/main" id="{1CB86B04-DAB1-39E6-54D4-0F97E62191BE}"/>
              </a:ext>
            </a:extLst>
          </p:cNvPr>
          <p:cNvSpPr txBox="1"/>
          <p:nvPr/>
        </p:nvSpPr>
        <p:spPr>
          <a:xfrm>
            <a:off x="7184437" y="2410271"/>
            <a:ext cx="29104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MEDALLION ARCHITECTURE</a:t>
            </a:r>
            <a:endParaRPr lang="en-US"/>
          </a:p>
        </p:txBody>
      </p:sp>
      <p:pic>
        <p:nvPicPr>
          <p:cNvPr id="9" name="Picture 8" descr="A diagram of data warehouse&#10;&#10;AI-generated content may be incorrect.">
            <a:extLst>
              <a:ext uri="{FF2B5EF4-FFF2-40B4-BE49-F238E27FC236}">
                <a16:creationId xmlns:a16="http://schemas.microsoft.com/office/drawing/2014/main" id="{8E84944A-FBA6-54BE-98AA-CF701DF7620A}"/>
              </a:ext>
            </a:extLst>
          </p:cNvPr>
          <p:cNvPicPr>
            <a:picLocks noChangeAspect="1"/>
          </p:cNvPicPr>
          <p:nvPr/>
        </p:nvPicPr>
        <p:blipFill>
          <a:blip r:embed="rId5"/>
          <a:stretch>
            <a:fillRect/>
          </a:stretch>
        </p:blipFill>
        <p:spPr>
          <a:xfrm>
            <a:off x="7658100" y="3055620"/>
            <a:ext cx="1976120" cy="1457960"/>
          </a:xfrm>
          <a:prstGeom prst="rect">
            <a:avLst/>
          </a:prstGeom>
        </p:spPr>
      </p:pic>
    </p:spTree>
    <p:extLst>
      <p:ext uri="{BB962C8B-B14F-4D97-AF65-F5344CB8AC3E}">
        <p14:creationId xmlns:p14="http://schemas.microsoft.com/office/powerpoint/2010/main" val="935185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854DB7-63BF-B358-B05B-982F7B8EA943}"/>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3B3C959-E88B-53F7-1DAE-07B8D4F96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0AD7E9B2-6B23-18D1-B011-A17CD26E4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A2317499-6E9C-72B0-1D04-25C13CAADDAC}"/>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Dimension Tables</a:t>
            </a:r>
            <a:endParaRPr lang="en-US" sz="3200" b="1" kern="1200" cap="all">
              <a:latin typeface="Calibri Light"/>
              <a:ea typeface="Calibri Light"/>
              <a:cs typeface="Calibri Light"/>
            </a:endParaRPr>
          </a:p>
          <a:p>
            <a:pPr marL="0" marR="0">
              <a:lnSpc>
                <a:spcPct val="90000"/>
              </a:lnSpc>
              <a:spcBef>
                <a:spcPct val="0"/>
              </a:spcBef>
              <a:spcAft>
                <a:spcPts val="600"/>
              </a:spcAft>
            </a:pPr>
            <a:endParaRPr lang="en-US" sz="4400" b="1" kern="1200" cap="all">
              <a:solidFill>
                <a:schemeClr val="tx1"/>
              </a:solidFill>
              <a:latin typeface="+mj-lt"/>
              <a:ea typeface="+mj-ea"/>
              <a:cs typeface="+mj-cs"/>
            </a:endParaRPr>
          </a:p>
        </p:txBody>
      </p:sp>
      <p:sp>
        <p:nvSpPr>
          <p:cNvPr id="49" name="Arc 48">
            <a:extLst>
              <a:ext uri="{FF2B5EF4-FFF2-40B4-BE49-F238E27FC236}">
                <a16:creationId xmlns:a16="http://schemas.microsoft.com/office/drawing/2014/main" id="{75C4CD93-0368-5861-1651-66C4E8CDA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00802AEB-0756-43E1-A6E8-EEA7AEE43D14}"/>
              </a:ext>
            </a:extLst>
          </p:cNvPr>
          <p:cNvSpPr txBox="1"/>
          <p:nvPr/>
        </p:nvSpPr>
        <p:spPr>
          <a:xfrm>
            <a:off x="838200" y="1825625"/>
            <a:ext cx="6512560" cy="4351338"/>
          </a:xfrm>
          <a:prstGeom prst="rect">
            <a:avLst/>
          </a:prstGeom>
        </p:spPr>
        <p:txBody>
          <a:bodyPr vert="horz" lIns="91440" tIns="45720" rIns="91440" bIns="45720" rtlCol="0" anchor="t">
            <a:normAutofit/>
          </a:bodyPr>
          <a:lstStyle/>
          <a:p>
            <a:pPr marL="285750" indent="-285750">
              <a:lnSpc>
                <a:spcPct val="90000"/>
              </a:lnSpc>
              <a:spcAft>
                <a:spcPts val="600"/>
              </a:spcAft>
              <a:buFont typeface="Arial"/>
              <a:buChar char="•"/>
            </a:pPr>
            <a:r>
              <a:rPr lang="en-US" sz="1400">
                <a:ea typeface="+mn-lt"/>
                <a:cs typeface="+mn-lt"/>
              </a:rPr>
              <a:t>Dimension tables store </a:t>
            </a:r>
            <a:r>
              <a:rPr lang="en-US" sz="1400" b="1">
                <a:ea typeface="+mn-lt"/>
                <a:cs typeface="+mn-lt"/>
              </a:rPr>
              <a:t>descriptive information</a:t>
            </a:r>
            <a:r>
              <a:rPr lang="en-US" sz="1400">
                <a:ea typeface="+mn-lt"/>
                <a:cs typeface="+mn-lt"/>
              </a:rPr>
              <a:t> such as donors, hospitals, and dates information.</a:t>
            </a:r>
            <a:endParaRPr lang="en-US">
              <a:ea typeface="Calibri" panose="020F0502020204030204"/>
              <a:cs typeface="Calibri" panose="020F0502020204030204"/>
            </a:endParaRPr>
          </a:p>
          <a:p>
            <a:endParaRPr lang="en-US" sz="1400" b="1">
              <a:ea typeface="+mn-lt"/>
              <a:cs typeface="+mn-lt"/>
            </a:endParaRPr>
          </a:p>
          <a:p>
            <a:pPr marL="285750" indent="-285750">
              <a:buFont typeface="Arial"/>
              <a:buChar char="•"/>
            </a:pPr>
            <a:r>
              <a:rPr lang="en-US" sz="1400" dirty="0">
                <a:ea typeface="+mn-lt"/>
                <a:cs typeface="+mn-lt"/>
              </a:rPr>
              <a:t>These tables provide </a:t>
            </a:r>
            <a:r>
              <a:rPr lang="en-US" sz="1400" b="1" dirty="0">
                <a:ea typeface="+mn-lt"/>
                <a:cs typeface="+mn-lt"/>
              </a:rPr>
              <a:t>additional context</a:t>
            </a:r>
            <a:r>
              <a:rPr lang="en-US" sz="1400" dirty="0">
                <a:ea typeface="+mn-lt"/>
                <a:cs typeface="+mn-lt"/>
              </a:rPr>
              <a:t> to the events stored in fact tables</a:t>
            </a:r>
            <a:r>
              <a:rPr lang="en-US" sz="1400" dirty="0">
                <a:effectLst/>
                <a:ea typeface="+mn-lt"/>
                <a:cs typeface="+mn-lt"/>
              </a:rPr>
              <a:t>.</a:t>
            </a:r>
            <a:endParaRPr lang="en-US" sz="1400" dirty="0">
              <a:ea typeface="+mn-lt"/>
              <a:cs typeface="+mn-lt"/>
            </a:endParaRPr>
          </a:p>
          <a:p>
            <a:endParaRPr lang="en-US" sz="1400">
              <a:ea typeface="+mn-lt"/>
              <a:cs typeface="+mn-lt"/>
            </a:endParaRPr>
          </a:p>
          <a:p>
            <a:pPr marL="285750" indent="-285750">
              <a:buFont typeface="Arial"/>
              <a:buChar char="•"/>
            </a:pPr>
            <a:r>
              <a:rPr lang="en-US" sz="1400" dirty="0">
                <a:ea typeface="+mn-lt"/>
                <a:cs typeface="+mn-lt"/>
              </a:rPr>
              <a:t>Snapshots (</a:t>
            </a:r>
            <a:r>
              <a:rPr lang="en-US" sz="1400" dirty="0" err="1">
                <a:ea typeface="+mn-lt"/>
                <a:cs typeface="+mn-lt"/>
              </a:rPr>
              <a:t>scd</a:t>
            </a:r>
            <a:r>
              <a:rPr lang="en-US" sz="1400" dirty="0">
                <a:ea typeface="+mn-lt"/>
                <a:cs typeface="+mn-lt"/>
              </a:rPr>
              <a:t> type-2) are created separately to track historical changes and identify data inconsistencies over time.</a:t>
            </a:r>
            <a:endParaRPr lang="en-US" dirty="0">
              <a:ea typeface="+mn-lt"/>
              <a:cs typeface="+mn-lt"/>
            </a:endParaRPr>
          </a:p>
          <a:p>
            <a:pPr>
              <a:buFont typeface="Arial"/>
              <a:buChar char="•"/>
            </a:pPr>
            <a:endParaRPr lang="en-US">
              <a:ea typeface="+mn-lt"/>
              <a:cs typeface="+mn-lt"/>
            </a:endParaRPr>
          </a:p>
          <a:p>
            <a:pPr marL="285750" indent="-285750">
              <a:buFont typeface="Arial"/>
              <a:buChar char="•"/>
            </a:pPr>
            <a:r>
              <a:rPr lang="en-US" sz="1400">
                <a:ea typeface="+mn-lt"/>
                <a:cs typeface="+mn-lt"/>
              </a:rPr>
              <a:t> This approach supports both current reporting and future historical analysis when needed.</a:t>
            </a:r>
            <a:endParaRPr lang="en-US">
              <a:ea typeface="+mn-lt"/>
              <a:cs typeface="+mn-lt"/>
            </a:endParaRPr>
          </a:p>
          <a:p>
            <a:pPr marR="0">
              <a:lnSpc>
                <a:spcPct val="90000"/>
              </a:lnSpc>
              <a:spcAft>
                <a:spcPts val="600"/>
              </a:spcAft>
            </a:pPr>
            <a:endParaRPr lang="en-US" sz="1400">
              <a:ea typeface="Calibri"/>
              <a:cs typeface="Calibri"/>
            </a:endParaRPr>
          </a:p>
        </p:txBody>
      </p:sp>
    </p:spTree>
    <p:extLst>
      <p:ext uri="{BB962C8B-B14F-4D97-AF65-F5344CB8AC3E}">
        <p14:creationId xmlns:p14="http://schemas.microsoft.com/office/powerpoint/2010/main" val="1818479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D6B7BA-389C-5DCD-FB23-760E21CAD7EC}"/>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125A97D7-A434-3BD4-F9DE-AAA0B4824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44B0159F-A3D1-9246-0FEE-8D312461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B615DBFD-5E36-4BB5-6320-DD24292FC972}"/>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Fact Tables</a:t>
            </a:r>
            <a:endParaRPr lang="en-US" sz="3200" b="1" kern="1200" cap="all">
              <a:latin typeface="Calibri Light"/>
              <a:ea typeface="Calibri Light"/>
              <a:cs typeface="Calibri Light"/>
            </a:endParaRPr>
          </a:p>
          <a:p>
            <a:pPr marL="0" marR="0">
              <a:lnSpc>
                <a:spcPct val="90000"/>
              </a:lnSpc>
              <a:spcBef>
                <a:spcPct val="0"/>
              </a:spcBef>
              <a:spcAft>
                <a:spcPts val="600"/>
              </a:spcAft>
            </a:pPr>
            <a:endParaRPr lang="en-US" sz="4400" b="1" kern="1200" cap="all">
              <a:solidFill>
                <a:schemeClr val="tx1"/>
              </a:solidFill>
              <a:latin typeface="+mj-lt"/>
              <a:ea typeface="+mj-ea"/>
              <a:cs typeface="+mj-cs"/>
            </a:endParaRPr>
          </a:p>
        </p:txBody>
      </p:sp>
      <p:sp>
        <p:nvSpPr>
          <p:cNvPr id="49" name="Arc 48">
            <a:extLst>
              <a:ext uri="{FF2B5EF4-FFF2-40B4-BE49-F238E27FC236}">
                <a16:creationId xmlns:a16="http://schemas.microsoft.com/office/drawing/2014/main" id="{E60F95B5-C6F6-76CA-955F-821BDEFE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85406D9F-0B83-AD14-BD62-D560B0AF1672}"/>
              </a:ext>
            </a:extLst>
          </p:cNvPr>
          <p:cNvSpPr txBox="1"/>
          <p:nvPr/>
        </p:nvSpPr>
        <p:spPr>
          <a:xfrm>
            <a:off x="838200" y="1689554"/>
            <a:ext cx="6281058" cy="4487409"/>
          </a:xfrm>
          <a:prstGeom prst="rect">
            <a:avLst/>
          </a:prstGeom>
        </p:spPr>
        <p:txBody>
          <a:bodyPr vert="horz" lIns="91440" tIns="45720" rIns="91440" bIns="45720" rtlCol="0" anchor="t">
            <a:normAutofit/>
          </a:bodyPr>
          <a:lstStyle/>
          <a:p>
            <a:pPr marL="285750" indent="-285750">
              <a:buFont typeface="Arial"/>
              <a:buChar char="•"/>
            </a:pPr>
            <a:r>
              <a:rPr lang="en-US" sz="1400">
                <a:ea typeface="+mn-lt"/>
                <a:cs typeface="+mn-lt"/>
              </a:rPr>
              <a:t>Fact tables store</a:t>
            </a:r>
            <a:r>
              <a:rPr lang="en-US" sz="1400" b="1">
                <a:ea typeface="+mn-lt"/>
                <a:cs typeface="+mn-lt"/>
              </a:rPr>
              <a:t> measurable</a:t>
            </a:r>
            <a:r>
              <a:rPr lang="en-US" sz="1400">
                <a:ea typeface="+mn-lt"/>
                <a:cs typeface="+mn-lt"/>
              </a:rPr>
              <a:t> </a:t>
            </a:r>
            <a:r>
              <a:rPr lang="en-US" sz="1400" b="1">
                <a:ea typeface="+mn-lt"/>
                <a:cs typeface="+mn-lt"/>
              </a:rPr>
              <a:t>events </a:t>
            </a:r>
            <a:r>
              <a:rPr lang="en-US" sz="1400">
                <a:ea typeface="+mn-lt"/>
                <a:cs typeface="+mn-lt"/>
              </a:rPr>
              <a:t>that happen in the system, such as donations, blood tests, and hospital requests</a:t>
            </a:r>
            <a:r>
              <a:rPr lang="en-US" sz="1400">
                <a:effectLst/>
                <a:ea typeface="+mn-lt"/>
                <a:cs typeface="+mn-lt"/>
              </a:rPr>
              <a:t>.</a:t>
            </a:r>
            <a:endParaRPr lang="en-US" sz="1400" b="1">
              <a:ea typeface="+mn-lt"/>
              <a:cs typeface="+mn-lt"/>
            </a:endParaRPr>
          </a:p>
          <a:p>
            <a:endParaRPr lang="en-US" sz="1400">
              <a:ea typeface="+mn-lt"/>
              <a:cs typeface="+mn-lt"/>
            </a:endParaRPr>
          </a:p>
          <a:p>
            <a:pPr marL="285750" indent="-285750">
              <a:buFont typeface="Arial"/>
              <a:buChar char="•"/>
            </a:pPr>
            <a:r>
              <a:rPr lang="en-US" sz="1400">
                <a:ea typeface="+mn-lt"/>
                <a:cs typeface="+mn-lt"/>
              </a:rPr>
              <a:t>Fact tables are connected with dimension tables to add more details like donor, recipient and date.</a:t>
            </a:r>
          </a:p>
          <a:p>
            <a:pPr>
              <a:buFont typeface="Arial" panose="020B0604020202020204" pitchFamily="34" charset="0"/>
              <a:buChar char="•"/>
            </a:pPr>
            <a:endParaRPr lang="en-US" sz="1400">
              <a:ea typeface="+mn-lt"/>
              <a:cs typeface="+mn-lt"/>
            </a:endParaRPr>
          </a:p>
          <a:p>
            <a:pPr marL="285750" indent="-285750">
              <a:buFont typeface="Arial"/>
              <a:buChar char="•"/>
            </a:pPr>
            <a:r>
              <a:rPr lang="en-US" sz="1400">
                <a:ea typeface="+mn-lt"/>
                <a:cs typeface="+mn-lt"/>
              </a:rPr>
              <a:t>Fact tables were built using an </a:t>
            </a:r>
            <a:r>
              <a:rPr lang="en-US" sz="1400" b="1">
                <a:ea typeface="+mn-lt"/>
                <a:cs typeface="+mn-lt"/>
              </a:rPr>
              <a:t>incremental approach</a:t>
            </a:r>
            <a:r>
              <a:rPr lang="en-US" sz="1400">
                <a:ea typeface="+mn-lt"/>
                <a:cs typeface="+mn-lt"/>
              </a:rPr>
              <a:t>, where only new or changed records are processed.</a:t>
            </a:r>
          </a:p>
          <a:p>
            <a:endParaRPr lang="en-US" sz="1400">
              <a:ea typeface="+mn-lt"/>
              <a:cs typeface="+mn-lt"/>
            </a:endParaRPr>
          </a:p>
          <a:p>
            <a:pPr marL="285750" indent="-285750">
              <a:buFont typeface="Arial"/>
              <a:buChar char="•"/>
            </a:pPr>
            <a:r>
              <a:rPr lang="en-US" sz="1400">
                <a:ea typeface="+mn-lt"/>
                <a:cs typeface="+mn-lt"/>
              </a:rPr>
              <a:t>This approach helps avoid reprocessing the entire dataset and improves performance.</a:t>
            </a:r>
            <a:endParaRPr lang="en-US" sz="1400">
              <a:ea typeface="Calibri"/>
              <a:cs typeface="Calibri"/>
            </a:endParaRPr>
          </a:p>
          <a:p>
            <a:pPr>
              <a:buFont typeface="Arial" panose="020B0604020202020204" pitchFamily="34" charset="0"/>
              <a:buChar char="•"/>
            </a:pPr>
            <a:endParaRPr lang="en-US" sz="1400" b="1">
              <a:ea typeface="+mn-lt"/>
              <a:cs typeface="+mn-lt"/>
            </a:endParaRPr>
          </a:p>
          <a:p>
            <a:endParaRPr lang="en-US" sz="1400">
              <a:ea typeface="+mn-lt"/>
              <a:cs typeface="+mn-lt"/>
            </a:endParaRPr>
          </a:p>
        </p:txBody>
      </p:sp>
    </p:spTree>
    <p:extLst>
      <p:ext uri="{BB962C8B-B14F-4D97-AF65-F5344CB8AC3E}">
        <p14:creationId xmlns:p14="http://schemas.microsoft.com/office/powerpoint/2010/main" val="1527669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C9117D-3351-ED50-0BC3-C5E7A3AF7F60}"/>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EC36EF00-E972-8105-7128-2A1B6E322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Shape 119">
            <a:extLst>
              <a:ext uri="{FF2B5EF4-FFF2-40B4-BE49-F238E27FC236}">
                <a16:creationId xmlns:a16="http://schemas.microsoft.com/office/drawing/2014/main" id="{8E54D1FE-5ACF-65EB-289A-31AA660B7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c 121">
            <a:extLst>
              <a:ext uri="{FF2B5EF4-FFF2-40B4-BE49-F238E27FC236}">
                <a16:creationId xmlns:a16="http://schemas.microsoft.com/office/drawing/2014/main" id="{3FF8A0BF-FF89-07FB-7135-968C51A7B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18F60A46-52AD-9D48-FB38-C2367FDAE29F}"/>
              </a:ext>
            </a:extLst>
          </p:cNvPr>
          <p:cNvSpPr txBox="1"/>
          <p:nvPr/>
        </p:nvSpPr>
        <p:spPr>
          <a:xfrm>
            <a:off x="4447308" y="591344"/>
            <a:ext cx="6906491" cy="558561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3200" b="1">
                <a:latin typeface="Calibri Light"/>
                <a:ea typeface="Calibri Light"/>
                <a:cs typeface="Calibri Light"/>
              </a:rPr>
              <a:t>ANALYTICAL INSIGHTS </a:t>
            </a:r>
            <a:endParaRPr lang="en-US"/>
          </a:p>
        </p:txBody>
      </p:sp>
    </p:spTree>
    <p:extLst>
      <p:ext uri="{BB962C8B-B14F-4D97-AF65-F5344CB8AC3E}">
        <p14:creationId xmlns:p14="http://schemas.microsoft.com/office/powerpoint/2010/main" val="3098128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FE85AD-FBE6-FC16-4137-D2395479B22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D3D4DB-E0E0-A57B-ABA9-CF5B7F25E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42D4411-1AF5-EAB7-BE1F-79212D037F7F}"/>
              </a:ext>
            </a:extLst>
          </p:cNvPr>
          <p:cNvSpPr txBox="1"/>
          <p:nvPr/>
        </p:nvSpPr>
        <p:spPr>
          <a:xfrm>
            <a:off x="635195" y="661710"/>
            <a:ext cx="4862646" cy="248786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cap="all">
                <a:latin typeface="Calibri Light"/>
                <a:ea typeface="Calibri Light"/>
                <a:cs typeface="Calibri Light"/>
              </a:rPr>
              <a:t>monthly donation trends</a:t>
            </a:r>
          </a:p>
          <a:p>
            <a:pPr marL="0" marR="0">
              <a:lnSpc>
                <a:spcPct val="90000"/>
              </a:lnSpc>
              <a:spcBef>
                <a:spcPct val="0"/>
              </a:spcBef>
              <a:spcAft>
                <a:spcPts val="600"/>
              </a:spcAft>
            </a:pPr>
            <a:endParaRPr lang="en-US" sz="4000" b="1" cap="all">
              <a:latin typeface="+mj-lt"/>
              <a:ea typeface="Calibri Light"/>
              <a:cs typeface="Calibri Light"/>
            </a:endParaRPr>
          </a:p>
        </p:txBody>
      </p:sp>
      <p:sp>
        <p:nvSpPr>
          <p:cNvPr id="29" name="sketchy line">
            <a:extLst>
              <a:ext uri="{FF2B5EF4-FFF2-40B4-BE49-F238E27FC236}">
                <a16:creationId xmlns:a16="http://schemas.microsoft.com/office/drawing/2014/main" id="{011526E8-69A6-FE27-2B05-70C7D685B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94DE6C1-1D56-56E7-4E79-59E29B8B16CF}"/>
              </a:ext>
            </a:extLst>
          </p:cNvPr>
          <p:cNvSpPr txBox="1"/>
          <p:nvPr/>
        </p:nvSpPr>
        <p:spPr>
          <a:xfrm>
            <a:off x="640080" y="2872899"/>
            <a:ext cx="4524803" cy="3320668"/>
          </a:xfrm>
          <a:prstGeom prst="rect">
            <a:avLst/>
          </a:prstGeom>
        </p:spPr>
        <p:txBody>
          <a:bodyPr vert="horz" lIns="91440" tIns="45720" rIns="91440" bIns="45720" rtlCol="0" anchor="t">
            <a:normAutofit/>
          </a:bodyPr>
          <a:lstStyle/>
          <a:p>
            <a:pPr>
              <a:buFont typeface="Arial"/>
              <a:buChar char="•"/>
            </a:pPr>
            <a:r>
              <a:rPr lang="en-US" sz="1600" b="1">
                <a:ea typeface="+mn-lt"/>
                <a:cs typeface="+mn-lt"/>
              </a:rPr>
              <a:t>   </a:t>
            </a:r>
            <a:r>
              <a:rPr lang="en-US" sz="1400" b="1">
                <a:ea typeface="+mn-lt"/>
                <a:cs typeface="+mn-lt"/>
              </a:rPr>
              <a:t>Trend Analysis</a:t>
            </a:r>
            <a:br>
              <a:rPr lang="en-US" sz="1400" b="1">
                <a:ea typeface="+mn-lt"/>
                <a:cs typeface="+mn-lt"/>
              </a:rPr>
            </a:br>
            <a:r>
              <a:rPr lang="en-US" sz="1400" b="1">
                <a:ea typeface="+mn-lt"/>
                <a:cs typeface="+mn-lt"/>
              </a:rPr>
              <a:t>     </a:t>
            </a:r>
            <a:r>
              <a:rPr lang="en-US" sz="1400">
                <a:ea typeface="+mn-lt"/>
                <a:cs typeface="+mn-lt"/>
              </a:rPr>
              <a:t>Tracks donation volume across months</a:t>
            </a:r>
            <a:r>
              <a:rPr lang="en-US" sz="1400">
                <a:effectLst/>
                <a:ea typeface="+mn-lt"/>
                <a:cs typeface="+mn-lt"/>
              </a:rPr>
              <a:t>.</a:t>
            </a:r>
            <a:endParaRPr lang="en-US" sz="1400">
              <a:ea typeface="+mn-lt"/>
              <a:cs typeface="+mn-lt"/>
            </a:endParaRPr>
          </a:p>
          <a:p>
            <a:pPr>
              <a:buFont typeface="Arial"/>
              <a:buChar char="•"/>
            </a:pPr>
            <a:endParaRPr lang="en-US" sz="1400" b="1">
              <a:ea typeface="+mn-lt"/>
              <a:cs typeface="+mn-lt"/>
            </a:endParaRPr>
          </a:p>
          <a:p>
            <a:pPr>
              <a:buFont typeface="Arial"/>
              <a:buChar char="•"/>
            </a:pPr>
            <a:r>
              <a:rPr lang="en-US" sz="1400" b="1">
                <a:ea typeface="+mn-lt"/>
                <a:cs typeface="+mn-lt"/>
              </a:rPr>
              <a:t>   Blood Group Comparison  </a:t>
            </a:r>
          </a:p>
          <a:p>
            <a:r>
              <a:rPr lang="en-US" sz="1400">
                <a:ea typeface="+mn-lt"/>
                <a:cs typeface="+mn-lt"/>
              </a:rPr>
              <a:t> Shows contribution of each blood type.</a:t>
            </a:r>
            <a:endParaRPr lang="en-US">
              <a:ea typeface="Calibri" panose="020F0502020204030204"/>
              <a:cs typeface="Calibri" panose="020F0502020204030204"/>
            </a:endParaRPr>
          </a:p>
          <a:p>
            <a:pPr>
              <a:buFont typeface="Arial"/>
              <a:buChar char="•"/>
            </a:pPr>
            <a:endParaRPr lang="en-US" sz="1400" b="1">
              <a:ea typeface="+mn-lt"/>
              <a:cs typeface="+mn-lt"/>
            </a:endParaRPr>
          </a:p>
          <a:p>
            <a:pPr>
              <a:buFont typeface="Arial"/>
              <a:buChar char="•"/>
            </a:pPr>
            <a:r>
              <a:rPr lang="en-US" sz="1400" b="1">
                <a:ea typeface="+mn-lt"/>
                <a:cs typeface="+mn-lt"/>
              </a:rPr>
              <a:t>   Identifying Patterns</a:t>
            </a:r>
            <a:br>
              <a:rPr lang="en-US" sz="1400" b="1">
                <a:ea typeface="+mn-lt"/>
                <a:cs typeface="+mn-lt"/>
              </a:rPr>
            </a:br>
            <a:r>
              <a:rPr lang="en-US" sz="1400">
                <a:ea typeface="+mn-lt"/>
                <a:cs typeface="+mn-lt"/>
              </a:rPr>
              <a:t> Highlights months with higher or lower donations</a:t>
            </a:r>
            <a:r>
              <a:rPr lang="en-US" sz="1400">
                <a:effectLst/>
                <a:ea typeface="+mn-lt"/>
                <a:cs typeface="+mn-lt"/>
              </a:rPr>
              <a:t>.</a:t>
            </a:r>
            <a:endParaRPr lang="en-US" sz="1400">
              <a:ea typeface="+mn-lt"/>
              <a:cs typeface="+mn-lt"/>
            </a:endParaRPr>
          </a:p>
          <a:p>
            <a:endParaRPr lang="en-US" sz="1400" b="1">
              <a:ea typeface="+mn-lt"/>
              <a:cs typeface="+mn-lt"/>
            </a:endParaRPr>
          </a:p>
          <a:p>
            <a:pPr>
              <a:buFont typeface="Arial"/>
              <a:buChar char="•"/>
            </a:pPr>
            <a:r>
              <a:rPr lang="en-US" sz="1400" b="1">
                <a:ea typeface="+mn-lt"/>
                <a:cs typeface="+mn-lt"/>
              </a:rPr>
              <a:t>   Planning Campaigns</a:t>
            </a:r>
            <a:br>
              <a:rPr lang="en-US" sz="1400" b="1">
                <a:ea typeface="+mn-lt"/>
                <a:cs typeface="+mn-lt"/>
              </a:rPr>
            </a:br>
            <a:r>
              <a:rPr lang="en-US" sz="1400" b="1">
                <a:ea typeface="+mn-lt"/>
                <a:cs typeface="+mn-lt"/>
              </a:rPr>
              <a:t> </a:t>
            </a:r>
            <a:r>
              <a:rPr lang="en-US" sz="1400">
                <a:ea typeface="+mn-lt"/>
                <a:cs typeface="+mn-lt"/>
              </a:rPr>
              <a:t>Helps plan donation drives based on trends.</a:t>
            </a:r>
            <a:endParaRPr lang="en-US" sz="1400">
              <a:ea typeface="Calibri"/>
              <a:cs typeface="Calibri"/>
            </a:endParaRPr>
          </a:p>
          <a:p>
            <a:pPr marL="285750" indent="-285750">
              <a:buFont typeface="Arial,Sans-Serif"/>
              <a:buChar char="•"/>
            </a:pPr>
            <a:endParaRPr lang="en-US" sz="1400">
              <a:ea typeface="+mn-lt"/>
              <a:cs typeface="+mn-lt"/>
            </a:endParaRPr>
          </a:p>
          <a:p>
            <a:pPr marL="285750" indent="-285750">
              <a:buFont typeface="Arial"/>
              <a:buChar char="•"/>
            </a:pPr>
            <a:endParaRPr lang="en-US" sz="1600">
              <a:ea typeface="+mn-lt"/>
              <a:cs typeface="+mn-lt"/>
            </a:endParaRPr>
          </a:p>
          <a:p>
            <a:pPr marL="285750" indent="-285750">
              <a:buFont typeface="Arial"/>
              <a:buChar char="•"/>
            </a:pPr>
            <a:endParaRPr lang="en-US" sz="1600">
              <a:ea typeface="+mn-lt"/>
              <a:cs typeface="+mn-lt"/>
            </a:endParaRPr>
          </a:p>
          <a:p>
            <a:pPr>
              <a:lnSpc>
                <a:spcPct val="90000"/>
              </a:lnSpc>
              <a:spcAft>
                <a:spcPts val="600"/>
              </a:spcAft>
            </a:pPr>
            <a:endParaRPr lang="en-US" sz="1200" b="1">
              <a:ea typeface="+mn-lt"/>
              <a:cs typeface="+mn-lt"/>
            </a:endParaRPr>
          </a:p>
          <a:p>
            <a:pPr marL="0" marR="0" indent="-228600">
              <a:lnSpc>
                <a:spcPct val="90000"/>
              </a:lnSpc>
              <a:spcAft>
                <a:spcPts val="600"/>
              </a:spcAft>
              <a:buFont typeface="Arial" panose="020B0604020202020204" pitchFamily="34" charset="0"/>
              <a:buChar char="•"/>
            </a:pPr>
            <a:endParaRPr lang="en-US" sz="1200"/>
          </a:p>
        </p:txBody>
      </p:sp>
      <p:pic>
        <p:nvPicPr>
          <p:cNvPr id="10" name="Picture 9">
            <a:extLst>
              <a:ext uri="{FF2B5EF4-FFF2-40B4-BE49-F238E27FC236}">
                <a16:creationId xmlns:a16="http://schemas.microsoft.com/office/drawing/2014/main" id="{B8452847-4A85-7EA8-77CC-9106529B28CA}"/>
              </a:ext>
            </a:extLst>
          </p:cNvPr>
          <p:cNvPicPr>
            <a:picLocks noChangeAspect="1"/>
          </p:cNvPicPr>
          <p:nvPr/>
        </p:nvPicPr>
        <p:blipFill>
          <a:blip r:embed="rId3"/>
          <a:stretch>
            <a:fillRect/>
          </a:stretch>
        </p:blipFill>
        <p:spPr>
          <a:xfrm>
            <a:off x="5008109" y="1903638"/>
            <a:ext cx="6900183" cy="3507924"/>
          </a:xfrm>
          <a:prstGeom prst="rect">
            <a:avLst/>
          </a:prstGeom>
        </p:spPr>
      </p:pic>
    </p:spTree>
    <p:extLst>
      <p:ext uri="{BB962C8B-B14F-4D97-AF65-F5344CB8AC3E}">
        <p14:creationId xmlns:p14="http://schemas.microsoft.com/office/powerpoint/2010/main" val="780875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4B26F6-63EF-243E-C20C-F2FE4BE9B0F8}"/>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CF67779B-3232-6A2D-A402-96DB75072C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Shape 119">
            <a:extLst>
              <a:ext uri="{FF2B5EF4-FFF2-40B4-BE49-F238E27FC236}">
                <a16:creationId xmlns:a16="http://schemas.microsoft.com/office/drawing/2014/main" id="{5BD0E8D6-1BED-2546-E361-CCD5C370D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c 121">
            <a:extLst>
              <a:ext uri="{FF2B5EF4-FFF2-40B4-BE49-F238E27FC236}">
                <a16:creationId xmlns:a16="http://schemas.microsoft.com/office/drawing/2014/main" id="{8910B2D5-95A9-A63B-E743-9263F79E9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50ABE0C6-38F1-070D-024B-E6E3DEBD56D5}"/>
              </a:ext>
            </a:extLst>
          </p:cNvPr>
          <p:cNvSpPr txBox="1"/>
          <p:nvPr/>
        </p:nvSpPr>
        <p:spPr>
          <a:xfrm>
            <a:off x="4447308" y="591344"/>
            <a:ext cx="6906491" cy="558561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3200" b="1">
                <a:latin typeface="Calibri Light"/>
                <a:ea typeface="Calibri Light"/>
                <a:cs typeface="Calibri Light"/>
              </a:rPr>
              <a:t>CONCLUSION</a:t>
            </a:r>
            <a:endParaRPr lang="en-US"/>
          </a:p>
        </p:txBody>
      </p:sp>
    </p:spTree>
    <p:extLst>
      <p:ext uri="{BB962C8B-B14F-4D97-AF65-F5344CB8AC3E}">
        <p14:creationId xmlns:p14="http://schemas.microsoft.com/office/powerpoint/2010/main" val="531877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01D22F-3D2D-D612-4407-540A8A4483E0}"/>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45EE81A1-CEA6-A693-4203-D6F740A4B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B6A328C3-B69B-8BB8-9B16-5DDA0F6A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198AFD29-9109-E45E-0276-E91B6B46B73E}"/>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cap="all">
                <a:latin typeface="Calibri"/>
                <a:ea typeface="Calibri"/>
                <a:cs typeface="Calibri"/>
              </a:rPr>
              <a:t>CONCLUSION</a:t>
            </a:r>
            <a:endParaRPr lang="en-US" sz="3200" cap="all">
              <a:ea typeface="Calibri"/>
              <a:cs typeface="Calibri"/>
            </a:endParaRPr>
          </a:p>
        </p:txBody>
      </p:sp>
      <p:sp>
        <p:nvSpPr>
          <p:cNvPr id="49" name="Arc 48">
            <a:extLst>
              <a:ext uri="{FF2B5EF4-FFF2-40B4-BE49-F238E27FC236}">
                <a16:creationId xmlns:a16="http://schemas.microsoft.com/office/drawing/2014/main" id="{93B00754-DF56-9793-EA9F-D75EDC5BF6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8661DF71-9727-35A3-113F-0DE0F0BBCF20}"/>
              </a:ext>
            </a:extLst>
          </p:cNvPr>
          <p:cNvSpPr txBox="1"/>
          <p:nvPr/>
        </p:nvSpPr>
        <p:spPr>
          <a:xfrm>
            <a:off x="838200" y="1825625"/>
            <a:ext cx="5562601" cy="4351338"/>
          </a:xfrm>
          <a:prstGeom prst="rect">
            <a:avLst/>
          </a:prstGeom>
        </p:spPr>
        <p:txBody>
          <a:bodyPr vert="horz" lIns="91440" tIns="45720" rIns="91440" bIns="45720" rtlCol="0" anchor="t">
            <a:normAutofit/>
          </a:bodyPr>
          <a:lstStyle/>
          <a:p>
            <a:pPr>
              <a:buFont typeface="Arial" panose="020B0604020202020204" pitchFamily="34" charset="0"/>
              <a:buChar char="•"/>
            </a:pPr>
            <a:r>
              <a:rPr lang="en-US" sz="1600" b="1">
                <a:ea typeface="+mn-lt"/>
                <a:cs typeface="+mn-lt"/>
              </a:rPr>
              <a:t>  </a:t>
            </a:r>
            <a:r>
              <a:rPr lang="en-US" sz="1400" b="1">
                <a:ea typeface="+mn-lt"/>
                <a:cs typeface="+mn-lt"/>
              </a:rPr>
              <a:t> Structured Data Pipeline</a:t>
            </a:r>
            <a:br>
              <a:rPr lang="en-US" sz="1400" b="1">
                <a:ea typeface="+mn-lt"/>
                <a:cs typeface="+mn-lt"/>
              </a:rPr>
            </a:br>
            <a:r>
              <a:rPr lang="en-US" sz="1400" b="1">
                <a:ea typeface="+mn-lt"/>
                <a:cs typeface="+mn-lt"/>
              </a:rPr>
              <a:t> </a:t>
            </a:r>
            <a:r>
              <a:rPr lang="en-US" sz="1400">
                <a:ea typeface="+mn-lt"/>
                <a:cs typeface="+mn-lt"/>
              </a:rPr>
              <a:t>Transformed operational data into analytics-ready datasets</a:t>
            </a:r>
            <a:r>
              <a:rPr lang="en-US" sz="1400">
                <a:effectLst/>
                <a:ea typeface="+mn-lt"/>
                <a:cs typeface="+mn-lt"/>
              </a:rPr>
              <a:t>.</a:t>
            </a:r>
            <a:endParaRPr lang="en-US" sz="1400">
              <a:ea typeface="+mn-lt"/>
              <a:cs typeface="+mn-lt"/>
            </a:endParaRPr>
          </a:p>
          <a:p>
            <a:pPr>
              <a:buFont typeface="Arial" panose="020B0604020202020204" pitchFamily="34" charset="0"/>
              <a:buChar char="•"/>
            </a:pPr>
            <a:endParaRPr lang="en-US" sz="1400">
              <a:ea typeface="+mn-lt"/>
              <a:cs typeface="+mn-lt"/>
            </a:endParaRPr>
          </a:p>
          <a:p>
            <a:pPr>
              <a:buFont typeface="Arial" panose="020B0604020202020204" pitchFamily="34" charset="0"/>
              <a:buChar char="•"/>
            </a:pPr>
            <a:r>
              <a:rPr lang="en-US" sz="1400" b="1">
                <a:ea typeface="+mn-lt"/>
                <a:cs typeface="+mn-lt"/>
              </a:rPr>
              <a:t>   Reliable Data Models</a:t>
            </a:r>
            <a:br>
              <a:rPr lang="en-US" sz="1400" b="1">
                <a:ea typeface="+mn-lt"/>
                <a:cs typeface="+mn-lt"/>
              </a:rPr>
            </a:br>
            <a:r>
              <a:rPr lang="en-US" sz="1400" b="1">
                <a:ea typeface="+mn-lt"/>
                <a:cs typeface="+mn-lt"/>
              </a:rPr>
              <a:t> </a:t>
            </a:r>
            <a:r>
              <a:rPr lang="en-US" sz="1400">
                <a:ea typeface="+mn-lt"/>
                <a:cs typeface="+mn-lt"/>
              </a:rPr>
              <a:t>Fact and dimension tables support reporting needs.</a:t>
            </a:r>
          </a:p>
          <a:p>
            <a:pPr>
              <a:buFont typeface="Arial" panose="020B0604020202020204" pitchFamily="34" charset="0"/>
              <a:buChar char="•"/>
            </a:pPr>
            <a:endParaRPr lang="en-US" sz="1400">
              <a:ea typeface="+mn-lt"/>
              <a:cs typeface="+mn-lt"/>
            </a:endParaRPr>
          </a:p>
          <a:p>
            <a:pPr>
              <a:buFont typeface="Arial" panose="020B0604020202020204" pitchFamily="34" charset="0"/>
              <a:buChar char="•"/>
            </a:pPr>
            <a:r>
              <a:rPr lang="en-US" sz="1400" b="1">
                <a:ea typeface="+mn-lt"/>
                <a:cs typeface="+mn-lt"/>
              </a:rPr>
              <a:t>   Actionable Insights</a:t>
            </a:r>
            <a:br>
              <a:rPr lang="en-US" sz="1400" b="1">
                <a:ea typeface="+mn-lt"/>
                <a:cs typeface="+mn-lt"/>
              </a:rPr>
            </a:br>
            <a:r>
              <a:rPr lang="en-US" sz="1400">
                <a:ea typeface="+mn-lt"/>
                <a:cs typeface="+mn-lt"/>
              </a:rPr>
              <a:t> Reports help understand donors, inventory, and demand patterns.</a:t>
            </a:r>
          </a:p>
          <a:p>
            <a:pPr>
              <a:buFont typeface="Arial" panose="020B0604020202020204" pitchFamily="34" charset="0"/>
              <a:buChar char="•"/>
            </a:pPr>
            <a:endParaRPr lang="en-US" sz="1400" b="1">
              <a:ea typeface="+mn-lt"/>
              <a:cs typeface="+mn-lt"/>
            </a:endParaRPr>
          </a:p>
          <a:p>
            <a:pPr>
              <a:buFont typeface="Arial" panose="020B0604020202020204" pitchFamily="34" charset="0"/>
              <a:buChar char="•"/>
            </a:pPr>
            <a:r>
              <a:rPr lang="en-US" sz="1400" b="1">
                <a:ea typeface="+mn-lt"/>
                <a:cs typeface="+mn-lt"/>
              </a:rPr>
              <a:t>   Better Decision Making</a:t>
            </a:r>
            <a:br>
              <a:rPr lang="en-US" sz="1400" b="1">
                <a:ea typeface="+mn-lt"/>
                <a:cs typeface="+mn-lt"/>
              </a:rPr>
            </a:br>
            <a:r>
              <a:rPr lang="en-US" sz="1400" b="1">
                <a:ea typeface="+mn-lt"/>
                <a:cs typeface="+mn-lt"/>
              </a:rPr>
              <a:t> </a:t>
            </a:r>
            <a:r>
              <a:rPr lang="en-US" sz="1400">
                <a:ea typeface="+mn-lt"/>
                <a:cs typeface="+mn-lt"/>
              </a:rPr>
              <a:t>Enables data-driven strategies for blood donation management.</a:t>
            </a:r>
          </a:p>
          <a:p>
            <a:pPr>
              <a:buFont typeface="Arial" panose="020B0604020202020204" pitchFamily="34" charset="0"/>
              <a:buChar char="•"/>
            </a:pPr>
            <a:endParaRPr lang="en-US" sz="1400" b="1">
              <a:ea typeface="+mn-lt"/>
              <a:cs typeface="+mn-lt"/>
            </a:endParaRPr>
          </a:p>
          <a:p>
            <a:endParaRPr lang="en-US" sz="1400">
              <a:ea typeface="Calibri"/>
              <a:cs typeface="Calibri"/>
            </a:endParaRPr>
          </a:p>
          <a:p>
            <a:endParaRPr lang="en-US" sz="1400">
              <a:ea typeface="+mn-lt"/>
              <a:cs typeface="+mn-lt"/>
            </a:endParaRPr>
          </a:p>
          <a:p>
            <a:pPr marL="171450" indent="-228600">
              <a:lnSpc>
                <a:spcPct val="90000"/>
              </a:lnSpc>
              <a:spcAft>
                <a:spcPts val="600"/>
              </a:spcAft>
              <a:buFont typeface="Arial" panose="020B0604020202020204" pitchFamily="34" charset="0"/>
              <a:buChar char="•"/>
            </a:pPr>
            <a:endParaRPr lang="en-US" sz="1600">
              <a:ea typeface="Calibri"/>
              <a:cs typeface="Calibri"/>
            </a:endParaRPr>
          </a:p>
          <a:p>
            <a:pPr marL="0" marR="0">
              <a:lnSpc>
                <a:spcPct val="90000"/>
              </a:lnSpc>
              <a:spcAft>
                <a:spcPts val="600"/>
              </a:spcAft>
            </a:pPr>
            <a:endParaRPr lang="en-US" sz="1600">
              <a:ea typeface="Calibri"/>
              <a:cs typeface="Calibri"/>
            </a:endParaRPr>
          </a:p>
        </p:txBody>
      </p:sp>
    </p:spTree>
    <p:extLst>
      <p:ext uri="{BB962C8B-B14F-4D97-AF65-F5344CB8AC3E}">
        <p14:creationId xmlns:p14="http://schemas.microsoft.com/office/powerpoint/2010/main" val="2562785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dhanalakshmi.karri@yottatechports.com</dc:creator>
  <cp:revision>113</cp:revision>
  <dcterms:modified xsi:type="dcterms:W3CDTF">2026-04-24T11:56:52Z</dcterms:modified>
</cp:coreProperties>
</file>