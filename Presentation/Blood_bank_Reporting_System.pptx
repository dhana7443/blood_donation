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1" r:id="rId2"/>
    <p:sldId id="2622" r:id="rId3"/>
    <p:sldId id="2628" r:id="rId4"/>
    <p:sldId id="2605" r:id="rId5"/>
    <p:sldId id="2625" r:id="rId6"/>
    <p:sldId id="2591" r:id="rId7"/>
    <p:sldId id="2627" r:id="rId8"/>
    <p:sldId id="2599" r:id="rId9"/>
    <p:sldId id="2600" r:id="rId10"/>
    <p:sldId id="2606" r:id="rId11"/>
    <p:sldId id="2607" r:id="rId12"/>
    <p:sldId id="2615" r:id="rId13"/>
    <p:sldId id="261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signing a Data Pipeline for Blood Donation Analytics" id="{5F9BF99E-55B2-4F2C-8600-4203EDCB2739}">
          <p14:sldIdLst>
            <p14:sldId id="2561"/>
          </p14:sldIdLst>
        </p14:section>
        <p14:section name="Business Context and Solution Vision" id="{0D267E46-8152-4140-9DDC-FCF05762DE88}">
          <p14:sldIdLst>
            <p14:sldId id="2622"/>
            <p14:sldId id="2628"/>
            <p14:sldId id="2605"/>
            <p14:sldId id="2625"/>
            <p14:sldId id="2591"/>
          </p14:sldIdLst>
        </p14:section>
        <p14:section name="Medallion Architecture" id="{8556CCE8-CFF9-450C-8F1C-954F9D02A7FB}">
          <p14:sldIdLst>
            <p14:sldId id="2627"/>
          </p14:sldIdLst>
        </p14:section>
        <p14:section name="Data Modelling" id="{02353E61-48E1-4712-A263-31F5B21B38D9}">
          <p14:sldIdLst>
            <p14:sldId id="2599"/>
            <p14:sldId id="2600"/>
          </p14:sldIdLst>
        </p14:section>
        <p14:section name="Analytical Insigts" id="{744AEE5D-B448-431F-A618-2FEF73253795}">
          <p14:sldIdLst>
            <p14:sldId id="2606"/>
            <p14:sldId id="2607"/>
          </p14:sldIdLst>
        </p14:section>
        <p14:section name="Conclusion" id="{9F517D69-BA0F-4576-9029-A6E5D6D8E54F}">
          <p14:sldIdLst>
            <p14:sldId id="2615"/>
            <p14:sldId id="261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F039B8-E446-4C3A-E3D5-DEB13932074E}" v="33" dt="2026-04-24T12:25:27.710"/>
    <p1510:client id="{465CA162-4018-C352-BC0F-D6C68AE60CBB}" v="196" dt="2026-04-24T10:49:04.759"/>
    <p1510:client id="{BC2A5A5B-9EEA-1748-8BB4-FC7EB697DDA8}" v="7" dt="2026-04-23T14:37:50.9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45A164-5BDB-4020-BB72-D7CA28C3A35E}" type="datetimeFigureOut">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0D6BAC-FF77-437E-B1B1-BCBB560D658C}" type="slidenum">
              <a:t>‹#›</a:t>
            </a:fld>
            <a:endParaRPr lang="en-US"/>
          </a:p>
        </p:txBody>
      </p:sp>
    </p:spTree>
    <p:extLst>
      <p:ext uri="{BB962C8B-B14F-4D97-AF65-F5344CB8AC3E}">
        <p14:creationId xmlns:p14="http://schemas.microsoft.com/office/powerpoint/2010/main" val="759401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a:t>
            </a:r>
          </a:p>
        </p:txBody>
      </p:sp>
      <p:sp>
        <p:nvSpPr>
          <p:cNvPr id="4" name="Slide Number Placeholder 3"/>
          <p:cNvSpPr>
            <a:spLocks noGrp="1"/>
          </p:cNvSpPr>
          <p:nvPr>
            <p:ph type="sldNum" sz="quarter" idx="5"/>
          </p:nvPr>
        </p:nvSpPr>
        <p:spPr/>
        <p:txBody>
          <a:bodyPr/>
          <a:lstStyle/>
          <a:p>
            <a:fld id="{A803CE21-78BB-4DEF-BA31-F552340A25E8}" type="slidenum">
              <a:t>1</a:t>
            </a:fld>
            <a:endParaRPr lang="en-US"/>
          </a:p>
        </p:txBody>
      </p:sp>
    </p:spTree>
    <p:extLst>
      <p:ext uri="{BB962C8B-B14F-4D97-AF65-F5344CB8AC3E}">
        <p14:creationId xmlns:p14="http://schemas.microsoft.com/office/powerpoint/2010/main" val="4230520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4AF10-9D9A-E266-649D-9BB1ACA59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145B65-BA69-EAED-BF3C-A7E6C0DE0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60CA66-2DBE-C80A-F6AF-4293571FF215}"/>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78B308BE-CF3A-EBCE-1B8C-AA10171137DF}"/>
              </a:ext>
            </a:extLst>
          </p:cNvPr>
          <p:cNvSpPr>
            <a:spLocks noGrp="1"/>
          </p:cNvSpPr>
          <p:nvPr>
            <p:ph type="sldNum" sz="quarter" idx="5"/>
          </p:nvPr>
        </p:nvSpPr>
        <p:spPr/>
        <p:txBody>
          <a:bodyPr/>
          <a:lstStyle/>
          <a:p>
            <a:fld id="{A803CE21-78BB-4DEF-BA31-F552340A25E8}" type="slidenum">
              <a:t>2</a:t>
            </a:fld>
            <a:endParaRPr lang="en-US"/>
          </a:p>
        </p:txBody>
      </p:sp>
    </p:spTree>
    <p:extLst>
      <p:ext uri="{BB962C8B-B14F-4D97-AF65-F5344CB8AC3E}">
        <p14:creationId xmlns:p14="http://schemas.microsoft.com/office/powerpoint/2010/main" val="2420330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55DBD-1374-C7D2-DEC4-B7A3599A0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3D5AA-991F-626E-C254-7100E6DE99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DBC19-7A44-8E53-5002-76DAE9A2DA82}"/>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3F699C7F-EA42-0209-5474-2185F86A3849}"/>
              </a:ext>
            </a:extLst>
          </p:cNvPr>
          <p:cNvSpPr>
            <a:spLocks noGrp="1"/>
          </p:cNvSpPr>
          <p:nvPr>
            <p:ph type="sldNum" sz="quarter" idx="5"/>
          </p:nvPr>
        </p:nvSpPr>
        <p:spPr/>
        <p:txBody>
          <a:bodyPr/>
          <a:lstStyle/>
          <a:p>
            <a:fld id="{A803CE21-78BB-4DEF-BA31-F552340A25E8}" type="slidenum">
              <a:t>3</a:t>
            </a:fld>
            <a:endParaRPr lang="en-US"/>
          </a:p>
        </p:txBody>
      </p:sp>
    </p:spTree>
    <p:extLst>
      <p:ext uri="{BB962C8B-B14F-4D97-AF65-F5344CB8AC3E}">
        <p14:creationId xmlns:p14="http://schemas.microsoft.com/office/powerpoint/2010/main" val="2551713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F2102-BDD6-5EBB-85E8-E23DCD6BF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F2A3C6-073A-8073-E5BC-CBF0BC92F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A03E04-1145-263E-040A-CFF0EE1B62AE}"/>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29277F26-DD2F-CB36-0A85-2C12BC980FB0}"/>
              </a:ext>
            </a:extLst>
          </p:cNvPr>
          <p:cNvSpPr>
            <a:spLocks noGrp="1"/>
          </p:cNvSpPr>
          <p:nvPr>
            <p:ph type="sldNum" sz="quarter" idx="5"/>
          </p:nvPr>
        </p:nvSpPr>
        <p:spPr/>
        <p:txBody>
          <a:bodyPr/>
          <a:lstStyle/>
          <a:p>
            <a:fld id="{A803CE21-78BB-4DEF-BA31-F552340A25E8}" type="slidenum">
              <a:t>4</a:t>
            </a:fld>
            <a:endParaRPr lang="en-US"/>
          </a:p>
        </p:txBody>
      </p:sp>
    </p:spTree>
    <p:extLst>
      <p:ext uri="{BB962C8B-B14F-4D97-AF65-F5344CB8AC3E}">
        <p14:creationId xmlns:p14="http://schemas.microsoft.com/office/powerpoint/2010/main" val="745099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444DB-CCB9-75C8-99D8-0999CEAE12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976F8-B619-BA5B-951F-FD397B431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A1636-CD34-3606-018A-493647BFA0E2}"/>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5DBFD35D-C3BC-5896-849A-6211559E253A}"/>
              </a:ext>
            </a:extLst>
          </p:cNvPr>
          <p:cNvSpPr>
            <a:spLocks noGrp="1"/>
          </p:cNvSpPr>
          <p:nvPr>
            <p:ph type="sldNum" sz="quarter" idx="5"/>
          </p:nvPr>
        </p:nvSpPr>
        <p:spPr/>
        <p:txBody>
          <a:bodyPr/>
          <a:lstStyle/>
          <a:p>
            <a:fld id="{A803CE21-78BB-4DEF-BA31-F552340A25E8}" type="slidenum">
              <a:t>5</a:t>
            </a:fld>
            <a:endParaRPr lang="en-US"/>
          </a:p>
        </p:txBody>
      </p:sp>
    </p:spTree>
    <p:extLst>
      <p:ext uri="{BB962C8B-B14F-4D97-AF65-F5344CB8AC3E}">
        <p14:creationId xmlns:p14="http://schemas.microsoft.com/office/powerpoint/2010/main" val="3705058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20246-8CB4-AB9A-B311-B02F83921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6103FE-E7D2-0447-7203-12DFACE0F1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802018-75AD-ACDA-865A-D28F0717672E}"/>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8403F2E2-75AE-374C-EE90-44FAACE80F1E}"/>
              </a:ext>
            </a:extLst>
          </p:cNvPr>
          <p:cNvSpPr>
            <a:spLocks noGrp="1"/>
          </p:cNvSpPr>
          <p:nvPr>
            <p:ph type="sldNum" sz="quarter" idx="5"/>
          </p:nvPr>
        </p:nvSpPr>
        <p:spPr/>
        <p:txBody>
          <a:bodyPr/>
          <a:lstStyle/>
          <a:p>
            <a:fld id="{A803CE21-78BB-4DEF-BA31-F552340A25E8}" type="slidenum">
              <a:t>6</a:t>
            </a:fld>
            <a:endParaRPr lang="en-US"/>
          </a:p>
        </p:txBody>
      </p:sp>
    </p:spTree>
    <p:extLst>
      <p:ext uri="{BB962C8B-B14F-4D97-AF65-F5344CB8AC3E}">
        <p14:creationId xmlns:p14="http://schemas.microsoft.com/office/powerpoint/2010/main" val="1470610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F2001-B50B-F75B-D119-F77A29048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18F62-E624-9518-71E1-BFA7AE0FE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C8E14C-EB25-6EB0-D26C-1F347BBA998B}"/>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4BD9B0DD-EBA2-668B-1962-92C5BB4DEAEE}"/>
              </a:ext>
            </a:extLst>
          </p:cNvPr>
          <p:cNvSpPr>
            <a:spLocks noGrp="1"/>
          </p:cNvSpPr>
          <p:nvPr>
            <p:ph type="sldNum" sz="quarter" idx="5"/>
          </p:nvPr>
        </p:nvSpPr>
        <p:spPr/>
        <p:txBody>
          <a:bodyPr/>
          <a:lstStyle/>
          <a:p>
            <a:fld id="{A803CE21-78BB-4DEF-BA31-F552340A25E8}" type="slidenum">
              <a:t>7</a:t>
            </a:fld>
            <a:endParaRPr lang="en-US"/>
          </a:p>
        </p:txBody>
      </p:sp>
    </p:spTree>
    <p:extLst>
      <p:ext uri="{BB962C8B-B14F-4D97-AF65-F5344CB8AC3E}">
        <p14:creationId xmlns:p14="http://schemas.microsoft.com/office/powerpoint/2010/main" val="2263749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ECFEE-253F-1354-2561-03ACC0949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0A375-4A5C-1A88-A57A-57E60A0440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93E88-FCCC-30E8-2491-BEBDCB083698}"/>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0518442F-4D88-5825-0B4D-F7204A39E93C}"/>
              </a:ext>
            </a:extLst>
          </p:cNvPr>
          <p:cNvSpPr>
            <a:spLocks noGrp="1"/>
          </p:cNvSpPr>
          <p:nvPr>
            <p:ph type="sldNum" sz="quarter" idx="5"/>
          </p:nvPr>
        </p:nvSpPr>
        <p:spPr/>
        <p:txBody>
          <a:bodyPr/>
          <a:lstStyle/>
          <a:p>
            <a:fld id="{A803CE21-78BB-4DEF-BA31-F552340A25E8}" type="slidenum">
              <a:t>8</a:t>
            </a:fld>
            <a:endParaRPr lang="en-US"/>
          </a:p>
        </p:txBody>
      </p:sp>
    </p:spTree>
    <p:extLst>
      <p:ext uri="{BB962C8B-B14F-4D97-AF65-F5344CB8AC3E}">
        <p14:creationId xmlns:p14="http://schemas.microsoft.com/office/powerpoint/2010/main" val="697045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1E4FC-DB12-2DA1-90D6-A530753980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0AD17-0172-EACD-943D-5D8EC02B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37138-DB9B-D1A4-380A-980C4C36B835}"/>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74377263-9F66-E828-B007-88598AC67E46}"/>
              </a:ext>
            </a:extLst>
          </p:cNvPr>
          <p:cNvSpPr>
            <a:spLocks noGrp="1"/>
          </p:cNvSpPr>
          <p:nvPr>
            <p:ph type="sldNum" sz="quarter" idx="5"/>
          </p:nvPr>
        </p:nvSpPr>
        <p:spPr/>
        <p:txBody>
          <a:bodyPr/>
          <a:lstStyle/>
          <a:p>
            <a:fld id="{A803CE21-78BB-4DEF-BA31-F552340A25E8}" type="slidenum">
              <a:t>9</a:t>
            </a:fld>
            <a:endParaRPr lang="en-US"/>
          </a:p>
        </p:txBody>
      </p:sp>
    </p:spTree>
    <p:extLst>
      <p:ext uri="{BB962C8B-B14F-4D97-AF65-F5344CB8AC3E}">
        <p14:creationId xmlns:p14="http://schemas.microsoft.com/office/powerpoint/2010/main" val="3670217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3E657-0DB2-8AD5-D5AA-1560EC3E1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76236-F708-C91C-1D89-9EECB4760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2C3C99-4CE5-9F3D-2B1D-7FF0E0F4666F}"/>
              </a:ext>
            </a:extLst>
          </p:cNvPr>
          <p:cNvSpPr>
            <a:spLocks noGrp="1"/>
          </p:cNvSpPr>
          <p:nvPr>
            <p:ph type="body" idx="1"/>
          </p:nvPr>
        </p:nvSpPr>
        <p:spPr/>
        <p:txBody>
          <a:bodyPr/>
          <a:lstStyle/>
          <a:p>
            <a:r>
              <a:rPr lang="en-US"/>
              <a:t>Image source: Microsoft 365 content library</a:t>
            </a:r>
          </a:p>
        </p:txBody>
      </p:sp>
      <p:sp>
        <p:nvSpPr>
          <p:cNvPr id="4" name="Slide Number Placeholder 3">
            <a:extLst>
              <a:ext uri="{FF2B5EF4-FFF2-40B4-BE49-F238E27FC236}">
                <a16:creationId xmlns:a16="http://schemas.microsoft.com/office/drawing/2014/main" id="{2D59E8AD-E4E5-14A8-97A9-7AFB69B6BCA5}"/>
              </a:ext>
            </a:extLst>
          </p:cNvPr>
          <p:cNvSpPr>
            <a:spLocks noGrp="1"/>
          </p:cNvSpPr>
          <p:nvPr>
            <p:ph type="sldNum" sz="quarter" idx="5"/>
          </p:nvPr>
        </p:nvSpPr>
        <p:spPr/>
        <p:txBody>
          <a:bodyPr/>
          <a:lstStyle/>
          <a:p>
            <a:fld id="{A803CE21-78BB-4DEF-BA31-F552340A25E8}" type="slidenum">
              <a:t>10</a:t>
            </a:fld>
            <a:endParaRPr lang="en-US"/>
          </a:p>
        </p:txBody>
      </p:sp>
    </p:spTree>
    <p:extLst>
      <p:ext uri="{BB962C8B-B14F-4D97-AF65-F5344CB8AC3E}">
        <p14:creationId xmlns:p14="http://schemas.microsoft.com/office/powerpoint/2010/main" val="403813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250A4-4007-3434-EBBB-9045BE2822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8E00C-0C9A-1649-3610-256281D9B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A87B4-6BA2-13F5-DA3F-7AB50D779940}"/>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DE8A6FE2-A3F7-112D-0213-1CB69FBF3CFB}"/>
              </a:ext>
            </a:extLst>
          </p:cNvPr>
          <p:cNvSpPr>
            <a:spLocks noGrp="1"/>
          </p:cNvSpPr>
          <p:nvPr>
            <p:ph type="sldNum" sz="quarter" idx="5"/>
          </p:nvPr>
        </p:nvSpPr>
        <p:spPr/>
        <p:txBody>
          <a:bodyPr/>
          <a:lstStyle/>
          <a:p>
            <a:fld id="{A803CE21-78BB-4DEF-BA31-F552340A25E8}" type="slidenum">
              <a:t>11</a:t>
            </a:fld>
            <a:endParaRPr lang="en-US"/>
          </a:p>
        </p:txBody>
      </p:sp>
    </p:spTree>
    <p:extLst>
      <p:ext uri="{BB962C8B-B14F-4D97-AF65-F5344CB8AC3E}">
        <p14:creationId xmlns:p14="http://schemas.microsoft.com/office/powerpoint/2010/main" val="24538146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A3981-55D2-2BB4-86F5-8AEB247EBA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A7CA1-BB28-F120-3078-15DB7E2E60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5C338-50A3-9D04-CE57-787FF4FBD748}"/>
              </a:ext>
            </a:extLst>
          </p:cNvPr>
          <p:cNvSpPr>
            <a:spLocks noGrp="1"/>
          </p:cNvSpPr>
          <p:nvPr>
            <p:ph type="body" idx="1"/>
          </p:nvPr>
        </p:nvSpPr>
        <p:spPr/>
        <p:txBody>
          <a:bodyPr/>
          <a:lstStyle/>
          <a:p>
            <a:r>
              <a:rPr lang="en-US"/>
              <a:t>Image source: Microsoft 365 content library</a:t>
            </a:r>
          </a:p>
        </p:txBody>
      </p:sp>
      <p:sp>
        <p:nvSpPr>
          <p:cNvPr id="4" name="Slide Number Placeholder 3">
            <a:extLst>
              <a:ext uri="{FF2B5EF4-FFF2-40B4-BE49-F238E27FC236}">
                <a16:creationId xmlns:a16="http://schemas.microsoft.com/office/drawing/2014/main" id="{57CAC0D3-74C5-3265-B112-6F796124B693}"/>
              </a:ext>
            </a:extLst>
          </p:cNvPr>
          <p:cNvSpPr>
            <a:spLocks noGrp="1"/>
          </p:cNvSpPr>
          <p:nvPr>
            <p:ph type="sldNum" sz="quarter" idx="5"/>
          </p:nvPr>
        </p:nvSpPr>
        <p:spPr/>
        <p:txBody>
          <a:bodyPr/>
          <a:lstStyle/>
          <a:p>
            <a:fld id="{A803CE21-78BB-4DEF-BA31-F552340A25E8}" type="slidenum">
              <a:t>12</a:t>
            </a:fld>
            <a:endParaRPr lang="en-US"/>
          </a:p>
        </p:txBody>
      </p:sp>
    </p:spTree>
    <p:extLst>
      <p:ext uri="{BB962C8B-B14F-4D97-AF65-F5344CB8AC3E}">
        <p14:creationId xmlns:p14="http://schemas.microsoft.com/office/powerpoint/2010/main" val="253998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D8C88-630F-7F2C-6B31-B9D5DF8380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DB16E-2CDA-E62A-AF97-A063C49E9B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C2BDF-C711-352D-F281-C96AA7E2176D}"/>
              </a:ext>
            </a:extLst>
          </p:cNvPr>
          <p:cNvSpPr>
            <a:spLocks noGrp="1"/>
          </p:cNvSpPr>
          <p:nvPr>
            <p:ph type="body" idx="1"/>
          </p:nvPr>
        </p:nvSpPr>
        <p:spPr/>
        <p:txBody>
          <a:bodyPr/>
          <a:lstStyle/>
          <a:p>
            <a:r>
              <a:rPr lang="en-US"/>
              <a:t>
Operational systems used by blood banks are primarily designed to support day-to-day transactions such as recording donations, updating test results, managing inventory, and logging hospital requests. These systems are optimized for fast inserts and updates, not for complex analytical queries. As a result, generating reports directly from operational databases often leads to performance issues and incomplete insights. Another major challenge is the limited support for historical trend analysis. Operational systems typically store the latest state of data, making it difficult to track changes in donor behavior, inventory levels, or demand patterns over time. This limitation directly impacts decision-making, as stakeholders cannot easily answer questions such as which blood groups face recurring shortages, how donor participation changes seasonally, or which regions require targeted campaigns. Additionally, data in operational systems may contain inconsistencies, missing values, or unstandardized formats, further reducing its analytical value. Manual reporting efforts often become time-consuming and error-prone, relying heavily on ad hoc queries and spreadsheets. These challenges highlight the need for a dedicated analytical data pipeline. By separating operational workloads from analytical processing, organizations can ensure system stability while enabling deeper insights. A structured pipeline allows data to be cleaned, validated, and modeled specifically for reporting, transforming raw transactional data into meaningful, business-ready information that supports informed and timely decisions. 
 Image source: Microsoft 365 content library</a:t>
            </a:r>
          </a:p>
        </p:txBody>
      </p:sp>
      <p:sp>
        <p:nvSpPr>
          <p:cNvPr id="4" name="Slide Number Placeholder 3">
            <a:extLst>
              <a:ext uri="{FF2B5EF4-FFF2-40B4-BE49-F238E27FC236}">
                <a16:creationId xmlns:a16="http://schemas.microsoft.com/office/drawing/2014/main" id="{1479060E-04A5-12F9-F3B3-B52229876D7E}"/>
              </a:ext>
            </a:extLst>
          </p:cNvPr>
          <p:cNvSpPr>
            <a:spLocks noGrp="1"/>
          </p:cNvSpPr>
          <p:nvPr>
            <p:ph type="sldNum" sz="quarter" idx="5"/>
          </p:nvPr>
        </p:nvSpPr>
        <p:spPr/>
        <p:txBody>
          <a:bodyPr/>
          <a:lstStyle/>
          <a:p>
            <a:fld id="{A803CE21-78BB-4DEF-BA31-F552340A25E8}" type="slidenum">
              <a:t>13</a:t>
            </a:fld>
            <a:endParaRPr lang="en-US"/>
          </a:p>
        </p:txBody>
      </p:sp>
    </p:spTree>
    <p:extLst>
      <p:ext uri="{BB962C8B-B14F-4D97-AF65-F5344CB8AC3E}">
        <p14:creationId xmlns:p14="http://schemas.microsoft.com/office/powerpoint/2010/main" val="460667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8AD2344-CEB9-4AF1-ACB6-4685DDE901E4}"/>
              </a:ext>
            </a:extLst>
          </p:cNvPr>
          <p:cNvSpPr txBox="1"/>
          <p:nvPr/>
        </p:nvSpPr>
        <p:spPr>
          <a:xfrm>
            <a:off x="8153400" y="1128094"/>
            <a:ext cx="3434180" cy="1415270"/>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200" b="1" kern="1200">
                <a:effectLst/>
                <a:latin typeface="+mj-lt"/>
                <a:ea typeface="+mj-ea"/>
                <a:cs typeface="+mj-cs"/>
              </a:rPr>
              <a:t>BLOOD </a:t>
            </a:r>
            <a:r>
              <a:rPr lang="en-US" sz="3200" b="1">
                <a:latin typeface="+mj-lt"/>
                <a:ea typeface="+mj-ea"/>
                <a:cs typeface="+mj-cs"/>
              </a:rPr>
              <a:t>BANK REPORTING SYSTEM</a:t>
            </a:r>
            <a:endParaRPr lang="en-US" sz="3200" b="1" kern="1200">
              <a:latin typeface="+mj-lt"/>
              <a:ea typeface="Calibri Light"/>
              <a:cs typeface="Calibri Light"/>
            </a:endParaRPr>
          </a:p>
        </p:txBody>
      </p:sp>
      <p:sp>
        <p:nvSpPr>
          <p:cNvPr id="63" name="Rectangle 62">
            <a:extLst>
              <a:ext uri="{FF2B5EF4-FFF2-40B4-BE49-F238E27FC236}">
                <a16:creationId xmlns:a16="http://schemas.microsoft.com/office/drawing/2014/main" id="{7ED7575E-88D2-B771-681D-46A7E5541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76457"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https://magazine.unison.org.uk/content/uploads/sites/53/2023/03/bigstock-Close-Up-Of-Nurse-Adjusting-Bl-455051663-745x420.jpg">
            <a:extLst>
              <a:ext uri="{FF2B5EF4-FFF2-40B4-BE49-F238E27FC236}">
                <a16:creationId xmlns:a16="http://schemas.microsoft.com/office/drawing/2014/main" id="{C7BDC5DE-FE57-2EF7-0FA4-4BBD8FBE45AD}"/>
              </a:ext>
            </a:extLst>
          </p:cNvPr>
          <p:cNvPicPr>
            <a:picLocks noChangeAspect="1"/>
          </p:cNvPicPr>
          <p:nvPr/>
        </p:nvPicPr>
        <p:blipFill>
          <a:blip r:embed="rId3"/>
          <a:srcRect l="31900" r="11429"/>
          <a:stretch>
            <a:fillRect/>
          </a:stretch>
        </p:blipFill>
        <p:spPr>
          <a:xfrm>
            <a:off x="1041975" y="702366"/>
            <a:ext cx="5476415" cy="5459890"/>
          </a:xfrm>
          <a:prstGeom prst="rect">
            <a:avLst/>
          </a:prstGeom>
        </p:spPr>
      </p:pic>
      <p:cxnSp>
        <p:nvCxnSpPr>
          <p:cNvPr id="64" name="Straight Connector 63">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5" name="Content Placeholder 45">
            <a:extLst>
              <a:ext uri="{FF2B5EF4-FFF2-40B4-BE49-F238E27FC236}">
                <a16:creationId xmlns:a16="http://schemas.microsoft.com/office/drawing/2014/main" id="{2AC6FA8F-2E21-8254-68A6-1326776F7CDB}"/>
              </a:ext>
            </a:extLst>
          </p:cNvPr>
          <p:cNvSpPr>
            <a:spLocks noGrp="1"/>
          </p:cNvSpPr>
          <p:nvPr>
            <p:ph sz="half" idx="2"/>
          </p:nvPr>
        </p:nvSpPr>
        <p:spPr>
          <a:xfrm>
            <a:off x="9262639" y="5195895"/>
            <a:ext cx="2324941" cy="965779"/>
          </a:xfrm>
        </p:spPr>
        <p:txBody>
          <a:bodyPr vert="horz" lIns="91440" tIns="45720" rIns="91440" bIns="45720" rtlCol="0" anchor="t">
            <a:normAutofit fontScale="70000" lnSpcReduction="20000"/>
          </a:bodyPr>
          <a:lstStyle/>
          <a:p>
            <a:pPr marL="0" indent="0">
              <a:buNone/>
            </a:pPr>
            <a:r>
              <a:rPr lang="en-US" sz="2000" b="1">
                <a:ea typeface="Calibri"/>
                <a:cs typeface="Calibri"/>
              </a:rPr>
              <a:t>Presented by</a:t>
            </a:r>
          </a:p>
          <a:p>
            <a:pPr marL="0" indent="0">
              <a:buNone/>
            </a:pPr>
            <a:r>
              <a:rPr lang="en-US" sz="2000">
                <a:ea typeface="Calibri"/>
                <a:cs typeface="Calibri"/>
              </a:rPr>
              <a:t>Dhanalakshmi Karri</a:t>
            </a:r>
          </a:p>
          <a:p>
            <a:pPr marL="0" indent="0">
              <a:buNone/>
            </a:pPr>
            <a:r>
              <a:rPr lang="en-US" sz="2000">
                <a:ea typeface="Calibri"/>
                <a:cs typeface="Calibri"/>
              </a:rPr>
              <a:t>Associate Software Engineer</a:t>
            </a:r>
          </a:p>
        </p:txBody>
      </p:sp>
    </p:spTree>
    <p:extLst>
      <p:ext uri="{BB962C8B-B14F-4D97-AF65-F5344CB8AC3E}">
        <p14:creationId xmlns:p14="http://schemas.microsoft.com/office/powerpoint/2010/main" val="2087947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E8BA6E-D5D9-D2B3-BFB9-34EBF5A1D29B}"/>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9EBD96F-C114-3A4F-8E38-312D7D511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872EE4F-F265-A341-67EA-19A619198E98}"/>
              </a:ext>
            </a:extLst>
          </p:cNvPr>
          <p:cNvSpPr txBox="1"/>
          <p:nvPr/>
        </p:nvSpPr>
        <p:spPr>
          <a:xfrm>
            <a:off x="640080" y="325369"/>
            <a:ext cx="3481210" cy="214975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cap="all">
                <a:latin typeface="+mj-lt"/>
                <a:ea typeface="+mj-ea"/>
                <a:cs typeface="+mj-cs"/>
              </a:rPr>
              <a:t>Requirement GIVEN</a:t>
            </a:r>
            <a:endParaRPr lang="en-US" sz="3200" b="1" cap="all">
              <a:latin typeface="+mj-lt"/>
              <a:ea typeface="Calibri Light"/>
              <a:cs typeface="Calibri Light"/>
            </a:endParaRPr>
          </a:p>
        </p:txBody>
      </p:sp>
      <p:sp>
        <p:nvSpPr>
          <p:cNvPr id="22" name="sketchy line">
            <a:extLst>
              <a:ext uri="{FF2B5EF4-FFF2-40B4-BE49-F238E27FC236}">
                <a16:creationId xmlns:a16="http://schemas.microsoft.com/office/drawing/2014/main" id="{4CEA5B24-8BA3-02BE-4775-9BC688F5C0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07BB8C6-4C3B-1A76-2FC2-8A8AD9A0F9CE}"/>
              </a:ext>
            </a:extLst>
          </p:cNvPr>
          <p:cNvSpPr txBox="1"/>
          <p:nvPr/>
        </p:nvSpPr>
        <p:spPr>
          <a:xfrm>
            <a:off x="640080" y="2872899"/>
            <a:ext cx="4742181" cy="3561807"/>
          </a:xfrm>
          <a:prstGeom prst="rect">
            <a:avLst/>
          </a:prstGeom>
        </p:spPr>
        <p:txBody>
          <a:bodyPr vert="horz" lIns="91440" tIns="45720" rIns="91440" bIns="45720" rtlCol="0" anchor="t">
            <a:noAutofit/>
          </a:bodyPr>
          <a:lstStyle/>
          <a:p>
            <a:pPr marL="285750" indent="-285750">
              <a:buFont typeface="Arial"/>
              <a:buChar char="•"/>
            </a:pPr>
            <a:r>
              <a:rPr lang="en-US" sz="1400">
                <a:ea typeface="+mn-lt"/>
                <a:cs typeface="+mn-lt"/>
              </a:rPr>
              <a:t>We were provided with backend data of an application called </a:t>
            </a:r>
            <a:r>
              <a:rPr lang="en-US" sz="1400" b="1">
                <a:ea typeface="+mn-lt"/>
                <a:cs typeface="+mn-lt"/>
              </a:rPr>
              <a:t>Blood Bank Management System</a:t>
            </a:r>
            <a:r>
              <a:rPr lang="en-US" sz="1400">
                <a:ea typeface="+mn-lt"/>
                <a:cs typeface="+mn-lt"/>
              </a:rPr>
              <a:t>.</a:t>
            </a:r>
            <a:endParaRPr lang="en-US">
              <a:ea typeface="Calibri" panose="020F0502020204030204"/>
              <a:cs typeface="Calibri" panose="020F0502020204030204"/>
            </a:endParaRPr>
          </a:p>
          <a:p>
            <a:endParaRPr lang="en-US" sz="1400">
              <a:ea typeface="+mn-lt"/>
              <a:cs typeface="+mn-lt"/>
            </a:endParaRPr>
          </a:p>
          <a:p>
            <a:pPr marL="285750" indent="-285750">
              <a:buFont typeface="Arial"/>
              <a:buChar char="•"/>
            </a:pPr>
            <a:r>
              <a:rPr lang="en-US" sz="1400">
                <a:ea typeface="+mn-lt"/>
                <a:cs typeface="+mn-lt"/>
              </a:rPr>
              <a:t>The data was given as a SQL file containing the</a:t>
            </a:r>
            <a:br>
              <a:rPr lang="en-US" sz="1400">
                <a:ea typeface="+mn-lt"/>
                <a:cs typeface="+mn-lt"/>
              </a:rPr>
            </a:br>
            <a:r>
              <a:rPr lang="en-US" sz="1400">
                <a:ea typeface="+mn-lt"/>
                <a:cs typeface="+mn-lt"/>
              </a:rPr>
              <a:t> table creation DDLs and insert statements.</a:t>
            </a:r>
            <a:endParaRPr lang="en-US">
              <a:ea typeface="Calibri" panose="020F0502020204030204"/>
              <a:cs typeface="Calibri" panose="020F0502020204030204"/>
            </a:endParaRPr>
          </a:p>
          <a:p>
            <a:pPr>
              <a:buFont typeface="Arial" panose="020B0604020202020204" pitchFamily="34" charset="0"/>
              <a:buChar char="•"/>
            </a:pPr>
            <a:endParaRPr lang="en-US" sz="1400">
              <a:ea typeface="+mn-lt"/>
              <a:cs typeface="+mn-lt"/>
            </a:endParaRPr>
          </a:p>
          <a:p>
            <a:pPr marL="285750" indent="-285750">
              <a:buFont typeface="Arial"/>
              <a:buChar char="•"/>
            </a:pPr>
            <a:r>
              <a:rPr lang="en-US" sz="1400">
                <a:ea typeface="+mn-lt"/>
                <a:cs typeface="+mn-lt"/>
              </a:rPr>
              <a:t>We were asked to build a reporting system considering this data as source</a:t>
            </a:r>
          </a:p>
          <a:p>
            <a:pPr marL="285750" indent="-285750">
              <a:buFont typeface="Arial"/>
              <a:buChar char="•"/>
            </a:pPr>
            <a:endParaRPr lang="en-US" sz="1400">
              <a:ea typeface="+mn-lt"/>
              <a:cs typeface="+mn-lt"/>
            </a:endParaRPr>
          </a:p>
          <a:p>
            <a:pPr marL="285750" indent="-285750">
              <a:buFont typeface="Arial"/>
              <a:buChar char="•"/>
            </a:pPr>
            <a:r>
              <a:rPr lang="en-US" sz="1400">
                <a:ea typeface="+mn-lt"/>
                <a:cs typeface="+mn-lt"/>
              </a:rPr>
              <a:t>The data contains daily activities like </a:t>
            </a:r>
            <a:r>
              <a:rPr lang="en-US" sz="1400" b="1">
                <a:ea typeface="+mn-lt"/>
                <a:cs typeface="+mn-lt"/>
              </a:rPr>
              <a:t>donations, blood tests, and requests, </a:t>
            </a:r>
            <a:r>
              <a:rPr lang="en-US" sz="1400">
                <a:ea typeface="+mn-lt"/>
                <a:cs typeface="+mn-lt"/>
              </a:rPr>
              <a:t>which are not optimized for reporting.</a:t>
            </a:r>
            <a:endParaRPr lang="en-US">
              <a:ea typeface="+mn-lt"/>
              <a:cs typeface="+mn-lt"/>
            </a:endParaRPr>
          </a:p>
          <a:p>
            <a:pPr>
              <a:buFont typeface="Arial" panose="020B0604020202020204" pitchFamily="34" charset="0"/>
              <a:buChar char="•"/>
            </a:pPr>
            <a:endParaRPr lang="en-US" sz="1400">
              <a:ea typeface="+mn-lt"/>
              <a:cs typeface="+mn-lt"/>
            </a:endParaRPr>
          </a:p>
          <a:p>
            <a:endParaRPr lang="en-US" sz="1400">
              <a:ea typeface="+mn-lt"/>
              <a:cs typeface="+mn-lt"/>
            </a:endParaRPr>
          </a:p>
          <a:p>
            <a:pPr indent="-228600">
              <a:lnSpc>
                <a:spcPct val="90000"/>
              </a:lnSpc>
              <a:spcAft>
                <a:spcPts val="600"/>
              </a:spcAft>
              <a:buFont typeface="Arial" panose="020B0604020202020204" pitchFamily="34" charset="0"/>
              <a:buChar char="•"/>
            </a:pPr>
            <a:endParaRPr lang="en-US" sz="1400" b="1">
              <a:ea typeface="Calibri"/>
              <a:cs typeface="Calibri"/>
            </a:endParaRPr>
          </a:p>
          <a:p>
            <a:pPr>
              <a:lnSpc>
                <a:spcPct val="90000"/>
              </a:lnSpc>
              <a:spcAft>
                <a:spcPts val="600"/>
              </a:spcAft>
            </a:pPr>
            <a:endParaRPr lang="en-US" sz="1400">
              <a:ea typeface="Calibri"/>
              <a:cs typeface="Calibri"/>
            </a:endParaRPr>
          </a:p>
        </p:txBody>
      </p:sp>
      <p:pic>
        <p:nvPicPr>
          <p:cNvPr id="4" name="Content Placeholder 3" descr="Two people looking at a computer screen&#10;&#10;AI-generated content may be incorrect.">
            <a:extLst>
              <a:ext uri="{FF2B5EF4-FFF2-40B4-BE49-F238E27FC236}">
                <a16:creationId xmlns:a16="http://schemas.microsoft.com/office/drawing/2014/main" id="{568FA9A7-D080-77F6-8331-52CEA23D73D8}"/>
              </a:ext>
            </a:extLst>
          </p:cNvPr>
          <p:cNvPicPr>
            <a:picLocks noGrp="1" noChangeAspect="1"/>
          </p:cNvPicPr>
          <p:nvPr>
            <p:ph sz="half" idx="1"/>
          </p:nvPr>
        </p:nvPicPr>
        <p:blipFill>
          <a:blip r:embed="rId3"/>
          <a:srcRect l="19151" r="13895" b="-1"/>
          <a:stretch>
            <a:fillRect/>
          </a:stretch>
        </p:blipFill>
        <p:spPr>
          <a:xfrm>
            <a:off x="5923183" y="10"/>
            <a:ext cx="6267294"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36898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35FB1A-B0B7-B86B-0E89-036CA6B35E16}"/>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53F70A99-51F3-5E12-7E3D-C3586C530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31505A51-05A7-2AE2-AB8C-A7E0D05F7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709A9ECC-17B4-1F41-78D1-10BBFAA71BC5}"/>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b="1" cap="all">
                <a:latin typeface="Calibri Light"/>
                <a:ea typeface="Calibri Light"/>
                <a:cs typeface="Calibri Light"/>
              </a:rPr>
              <a:t> REPORTING REQUIREMENTS</a:t>
            </a:r>
          </a:p>
        </p:txBody>
      </p:sp>
      <p:sp>
        <p:nvSpPr>
          <p:cNvPr id="49" name="Arc 48">
            <a:extLst>
              <a:ext uri="{FF2B5EF4-FFF2-40B4-BE49-F238E27FC236}">
                <a16:creationId xmlns:a16="http://schemas.microsoft.com/office/drawing/2014/main" id="{A73A040C-FEC6-BABE-43A9-36DA4262C0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7094058B-C988-25BF-DAFC-1146DD0B2E16}"/>
              </a:ext>
            </a:extLst>
          </p:cNvPr>
          <p:cNvSpPr txBox="1"/>
          <p:nvPr/>
        </p:nvSpPr>
        <p:spPr>
          <a:xfrm>
            <a:off x="838200" y="1825625"/>
            <a:ext cx="5562601" cy="4351338"/>
          </a:xfrm>
          <a:prstGeom prst="rect">
            <a:avLst/>
          </a:prstGeom>
        </p:spPr>
        <p:txBody>
          <a:bodyPr vert="horz" lIns="91440" tIns="45720" rIns="91440" bIns="45720" rtlCol="0" anchor="t">
            <a:normAutofit/>
          </a:bodyPr>
          <a:lstStyle/>
          <a:p>
            <a:pPr marL="285750" indent="-285750">
              <a:buFont typeface="Arial"/>
              <a:buChar char="•"/>
            </a:pPr>
            <a:endParaRPr lang="en-US" sz="1400">
              <a:ea typeface="+mn-lt"/>
              <a:cs typeface="+mn-lt"/>
            </a:endParaRPr>
          </a:p>
          <a:p>
            <a:pPr marL="285750" indent="-285750">
              <a:buFont typeface="Arial"/>
              <a:buChar char="•"/>
            </a:pPr>
            <a:r>
              <a:rPr lang="en-US" sz="1400">
                <a:ea typeface="+mn-lt"/>
                <a:cs typeface="+mn-lt"/>
              </a:rPr>
              <a:t>Monthly donation trends by blood type</a:t>
            </a:r>
            <a:br>
              <a:rPr lang="en-US" sz="1400">
                <a:ea typeface="+mn-lt"/>
                <a:cs typeface="+mn-lt"/>
              </a:rPr>
            </a:br>
            <a:endParaRPr lang="en-US" sz="1400">
              <a:ea typeface="+mn-lt"/>
              <a:cs typeface="+mn-lt"/>
            </a:endParaRPr>
          </a:p>
          <a:p>
            <a:pPr marL="285750" indent="-285750">
              <a:buFont typeface="Arial"/>
              <a:buChar char="•"/>
            </a:pPr>
            <a:r>
              <a:rPr lang="en-US" sz="1400">
                <a:ea typeface="+mn-lt"/>
                <a:cs typeface="+mn-lt"/>
              </a:rPr>
              <a:t>Donor Demographics</a:t>
            </a:r>
            <a:br>
              <a:rPr lang="en-US" sz="1400">
                <a:ea typeface="+mn-lt"/>
                <a:cs typeface="+mn-lt"/>
              </a:rPr>
            </a:br>
            <a:endParaRPr lang="en-US" sz="1400">
              <a:ea typeface="+mn-lt"/>
              <a:cs typeface="+mn-lt"/>
            </a:endParaRPr>
          </a:p>
          <a:p>
            <a:pPr marL="285750" indent="-285750">
              <a:buFont typeface="Arial"/>
              <a:buChar char="•"/>
            </a:pPr>
            <a:r>
              <a:rPr lang="en-US" sz="1400">
                <a:ea typeface="+mn-lt"/>
                <a:cs typeface="+mn-lt"/>
              </a:rPr>
              <a:t>Donor retention risk</a:t>
            </a:r>
            <a:br>
              <a:rPr lang="en-US" sz="1400">
                <a:ea typeface="+mn-lt"/>
                <a:cs typeface="+mn-lt"/>
              </a:rPr>
            </a:br>
            <a:endParaRPr lang="en-US" sz="1400">
              <a:ea typeface="+mn-lt"/>
              <a:cs typeface="+mn-lt"/>
            </a:endParaRPr>
          </a:p>
          <a:p>
            <a:pPr marL="285750" indent="-285750">
              <a:buFont typeface="Arial"/>
              <a:buChar char="•"/>
            </a:pPr>
            <a:r>
              <a:rPr lang="en-US" sz="1400">
                <a:ea typeface="+mn-lt"/>
                <a:cs typeface="+mn-lt"/>
              </a:rPr>
              <a:t>Hospital Demand vs supply</a:t>
            </a:r>
          </a:p>
          <a:p>
            <a:pPr marL="285750" indent="-285750">
              <a:buFont typeface="Arial"/>
              <a:buChar char="•"/>
            </a:pPr>
            <a:endParaRPr lang="en-US" sz="1400">
              <a:ea typeface="+mn-lt"/>
              <a:cs typeface="+mn-lt"/>
            </a:endParaRPr>
          </a:p>
          <a:p>
            <a:pPr marL="285750" indent="-285750">
              <a:buFont typeface="Arial"/>
              <a:buChar char="•"/>
            </a:pPr>
            <a:r>
              <a:rPr lang="en-US" sz="1400">
                <a:ea typeface="+mn-lt"/>
                <a:cs typeface="+mn-lt"/>
              </a:rPr>
              <a:t>Urgent Requests Analysis</a:t>
            </a:r>
          </a:p>
          <a:p>
            <a:pPr marL="285750" indent="-285750">
              <a:buFont typeface="Arial"/>
              <a:buChar char="•"/>
            </a:pPr>
            <a:endParaRPr lang="en-US" sz="1400">
              <a:ea typeface="+mn-lt"/>
              <a:cs typeface="+mn-lt"/>
            </a:endParaRPr>
          </a:p>
          <a:p>
            <a:pPr marL="285750" indent="-285750">
              <a:buFont typeface="Arial"/>
              <a:buChar char="•"/>
            </a:pPr>
            <a:r>
              <a:rPr lang="en-US" sz="1400">
                <a:ea typeface="+mn-lt"/>
                <a:cs typeface="+mn-lt"/>
              </a:rPr>
              <a:t>Daily Operations summary</a:t>
            </a:r>
          </a:p>
          <a:p>
            <a:pPr marL="285750" indent="-285750">
              <a:buFont typeface="Arial"/>
              <a:buChar char="•"/>
            </a:pPr>
            <a:endParaRPr lang="en-US" sz="1400">
              <a:ea typeface="+mn-lt"/>
              <a:cs typeface="+mn-lt"/>
            </a:endParaRPr>
          </a:p>
          <a:p>
            <a:pPr marL="285750" indent="-285750">
              <a:buFont typeface="Arial"/>
              <a:buChar char="•"/>
            </a:pPr>
            <a:endParaRPr lang="en-US" sz="1400">
              <a:ea typeface="+mn-lt"/>
              <a:cs typeface="+mn-lt"/>
            </a:endParaRPr>
          </a:p>
          <a:p>
            <a:br>
              <a:rPr lang="en-US" sz="1400">
                <a:ea typeface="+mn-lt"/>
                <a:cs typeface="+mn-lt"/>
              </a:rPr>
            </a:br>
            <a:endParaRPr lang="en-US" sz="1400">
              <a:ea typeface="+mn-lt"/>
              <a:cs typeface="+mn-lt"/>
            </a:endParaRPr>
          </a:p>
          <a:p>
            <a:endParaRPr lang="en-US" sz="1400">
              <a:ea typeface="Calibri"/>
              <a:cs typeface="Calibri"/>
            </a:endParaRPr>
          </a:p>
          <a:p>
            <a:pPr marR="0"/>
            <a:endParaRPr lang="en-US" sz="1600">
              <a:ea typeface="Calibri"/>
              <a:cs typeface="Calibri"/>
            </a:endParaRPr>
          </a:p>
          <a:p>
            <a:pPr marL="171450" indent="-228600">
              <a:lnSpc>
                <a:spcPct val="90000"/>
              </a:lnSpc>
              <a:spcAft>
                <a:spcPts val="600"/>
              </a:spcAft>
              <a:buFont typeface="Arial" panose="020B0604020202020204" pitchFamily="34" charset="0"/>
              <a:buChar char="•"/>
            </a:pPr>
            <a:endParaRPr lang="en-US" sz="1600">
              <a:ea typeface="Calibri"/>
              <a:cs typeface="Calibri"/>
            </a:endParaRPr>
          </a:p>
          <a:p>
            <a:pPr>
              <a:lnSpc>
                <a:spcPct val="90000"/>
              </a:lnSpc>
              <a:spcAft>
                <a:spcPts val="600"/>
              </a:spcAft>
            </a:pPr>
            <a:endParaRPr lang="en-US" sz="1600">
              <a:ea typeface="Calibri"/>
              <a:cs typeface="Calibri"/>
            </a:endParaRPr>
          </a:p>
        </p:txBody>
      </p:sp>
    </p:spTree>
    <p:extLst>
      <p:ext uri="{BB962C8B-B14F-4D97-AF65-F5344CB8AC3E}">
        <p14:creationId xmlns:p14="http://schemas.microsoft.com/office/powerpoint/2010/main" val="2222712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6B7E2D-26F5-F4C0-C5CE-C3B0048CA7DE}"/>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9C352946-8CA0-EDA8-287F-0E0A4E19F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524B8C80-307D-6E35-C40B-A461AAE7D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94710EBE-C0F7-5349-E332-97EF3B8097E7}"/>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b="1" cap="all">
                <a:latin typeface="Calibri Light"/>
                <a:ea typeface="Calibri Light"/>
                <a:cs typeface="Calibri Light"/>
              </a:rPr>
              <a:t>OLTP vs OLAP</a:t>
            </a:r>
          </a:p>
        </p:txBody>
      </p:sp>
      <p:sp>
        <p:nvSpPr>
          <p:cNvPr id="49" name="Arc 48">
            <a:extLst>
              <a:ext uri="{FF2B5EF4-FFF2-40B4-BE49-F238E27FC236}">
                <a16:creationId xmlns:a16="http://schemas.microsoft.com/office/drawing/2014/main" id="{82469B84-1B52-9E61-1E92-FCBD02DB68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5C435913-7692-7BAB-FA38-1EF6A4D5A9B2}"/>
              </a:ext>
            </a:extLst>
          </p:cNvPr>
          <p:cNvSpPr txBox="1"/>
          <p:nvPr/>
        </p:nvSpPr>
        <p:spPr>
          <a:xfrm>
            <a:off x="838200" y="1825625"/>
            <a:ext cx="5562601" cy="4351338"/>
          </a:xfrm>
          <a:prstGeom prst="rect">
            <a:avLst/>
          </a:prstGeom>
        </p:spPr>
        <p:txBody>
          <a:bodyPr vert="horz" lIns="91440" tIns="45720" rIns="91440" bIns="45720" rtlCol="0" anchor="t">
            <a:normAutofit/>
          </a:bodyPr>
          <a:lstStyle/>
          <a:p>
            <a:pPr marL="285750" indent="-285750">
              <a:buFont typeface="Arial"/>
              <a:buChar char="•"/>
            </a:pPr>
            <a:endParaRPr lang="en-US" sz="1400">
              <a:ea typeface="+mn-lt"/>
              <a:cs typeface="+mn-lt"/>
            </a:endParaRPr>
          </a:p>
          <a:p>
            <a:r>
              <a:rPr lang="en-US" sz="1400" b="1">
                <a:ea typeface="+mn-lt"/>
                <a:cs typeface="+mn-lt"/>
              </a:rPr>
              <a:t>OLTP (Operational Systems)</a:t>
            </a:r>
            <a:endParaRPr lang="en-US" sz="1400">
              <a:ea typeface="+mn-lt"/>
              <a:cs typeface="+mn-lt"/>
            </a:endParaRPr>
          </a:p>
          <a:p>
            <a:endParaRPr lang="en-US" sz="1400" b="1">
              <a:ea typeface="+mn-lt"/>
              <a:cs typeface="+mn-lt"/>
            </a:endParaRPr>
          </a:p>
          <a:p>
            <a:pPr marL="285750" indent="-285750">
              <a:buFont typeface="Arial"/>
              <a:buChar char="•"/>
            </a:pPr>
            <a:r>
              <a:rPr lang="en-US" sz="1400">
                <a:ea typeface="+mn-lt"/>
                <a:cs typeface="+mn-lt"/>
              </a:rPr>
              <a:t>Used for </a:t>
            </a:r>
            <a:r>
              <a:rPr lang="en-US" sz="1400" b="1">
                <a:ea typeface="+mn-lt"/>
                <a:cs typeface="+mn-lt"/>
              </a:rPr>
              <a:t>daily operations</a:t>
            </a:r>
            <a:r>
              <a:rPr lang="en-US" sz="1400">
                <a:ea typeface="+mn-lt"/>
                <a:cs typeface="+mn-lt"/>
              </a:rPr>
              <a:t> like transactions and data entry </a:t>
            </a:r>
            <a:endParaRPr lang="en-US" sz="1400">
              <a:ea typeface="Calibri" panose="020F0502020204030204"/>
              <a:cs typeface="Calibri" panose="020F0502020204030204"/>
            </a:endParaRPr>
          </a:p>
          <a:p>
            <a:endParaRPr lang="en-US" sz="1400">
              <a:ea typeface="+mn-lt"/>
              <a:cs typeface="+mn-lt"/>
            </a:endParaRPr>
          </a:p>
          <a:p>
            <a:pPr marL="285750" indent="-285750">
              <a:buFont typeface="Arial"/>
              <a:buChar char="•"/>
            </a:pPr>
            <a:r>
              <a:rPr lang="en-US" sz="1400">
                <a:ea typeface="+mn-lt"/>
                <a:cs typeface="+mn-lt"/>
              </a:rPr>
              <a:t>Handles frequent inserts and updates</a:t>
            </a:r>
            <a:endParaRPr lang="en-US" sz="1400">
              <a:ea typeface="Calibri" panose="020F0502020204030204"/>
              <a:cs typeface="Calibri" panose="020F0502020204030204"/>
            </a:endParaRPr>
          </a:p>
          <a:p>
            <a:br>
              <a:rPr lang="en-US" sz="1400">
                <a:ea typeface="+mn-lt"/>
                <a:cs typeface="+mn-lt"/>
              </a:rPr>
            </a:br>
            <a:endParaRPr lang="en-US" sz="1400">
              <a:ea typeface="+mn-lt"/>
              <a:cs typeface="+mn-lt"/>
            </a:endParaRPr>
          </a:p>
          <a:p>
            <a:r>
              <a:rPr lang="en-US" sz="1400" b="1">
                <a:ea typeface="+mn-lt"/>
                <a:cs typeface="+mn-lt"/>
              </a:rPr>
              <a:t>OLAP (Analytical Systems)</a:t>
            </a:r>
            <a:endParaRPr lang="en-US"/>
          </a:p>
          <a:p>
            <a:endParaRPr lang="en-US" sz="1400" b="1">
              <a:ea typeface="+mn-lt"/>
              <a:cs typeface="+mn-lt"/>
            </a:endParaRPr>
          </a:p>
          <a:p>
            <a:pPr marL="285750" indent="-285750">
              <a:buFont typeface="Arial"/>
              <a:buChar char="•"/>
            </a:pPr>
            <a:r>
              <a:rPr lang="en-US" sz="1400">
                <a:ea typeface="+mn-lt"/>
                <a:cs typeface="+mn-lt"/>
              </a:rPr>
              <a:t>Used for </a:t>
            </a:r>
            <a:r>
              <a:rPr lang="en-US" sz="1400" b="1">
                <a:ea typeface="+mn-lt"/>
                <a:cs typeface="+mn-lt"/>
              </a:rPr>
              <a:t>reporting and data analysis</a:t>
            </a:r>
            <a:r>
              <a:rPr lang="en-US" sz="1400">
                <a:ea typeface="+mn-lt"/>
                <a:cs typeface="+mn-lt"/>
              </a:rPr>
              <a:t> </a:t>
            </a:r>
            <a:endParaRPr lang="en-US"/>
          </a:p>
          <a:p>
            <a:endParaRPr lang="en-US" sz="1400">
              <a:ea typeface="+mn-lt"/>
              <a:cs typeface="+mn-lt"/>
            </a:endParaRPr>
          </a:p>
          <a:p>
            <a:pPr marL="285750" indent="-285750">
              <a:buFont typeface="Arial"/>
              <a:buChar char="•"/>
            </a:pPr>
            <a:r>
              <a:rPr lang="en-US" sz="1400">
                <a:ea typeface="+mn-lt"/>
                <a:cs typeface="+mn-lt"/>
              </a:rPr>
              <a:t>Handles </a:t>
            </a:r>
            <a:r>
              <a:rPr lang="en-US" sz="1400" err="1">
                <a:ea typeface="+mn-lt"/>
                <a:cs typeface="+mn-lt"/>
              </a:rPr>
              <a:t>comple</a:t>
            </a:r>
            <a:r>
              <a:rPr lang="en-US" sz="1400">
                <a:ea typeface="+mn-lt"/>
                <a:cs typeface="+mn-lt"/>
              </a:rPr>
              <a:t>x data queries</a:t>
            </a:r>
            <a:endParaRPr lang="en-US">
              <a:ea typeface="Calibri"/>
              <a:cs typeface="Calibri"/>
            </a:endParaRPr>
          </a:p>
          <a:p>
            <a:endParaRPr lang="en-US" sz="1400">
              <a:ea typeface="Calibri"/>
              <a:cs typeface="Calibri"/>
            </a:endParaRPr>
          </a:p>
          <a:p>
            <a:pPr marR="0"/>
            <a:endParaRPr lang="en-US" sz="1600">
              <a:ea typeface="Calibri"/>
              <a:cs typeface="Calibri"/>
            </a:endParaRPr>
          </a:p>
          <a:p>
            <a:pPr marL="171450" indent="-228600">
              <a:lnSpc>
                <a:spcPct val="90000"/>
              </a:lnSpc>
              <a:spcAft>
                <a:spcPts val="600"/>
              </a:spcAft>
              <a:buFont typeface="Arial" panose="020B0604020202020204" pitchFamily="34" charset="0"/>
              <a:buChar char="•"/>
            </a:pPr>
            <a:endParaRPr lang="en-US" sz="1600">
              <a:ea typeface="Calibri"/>
              <a:cs typeface="Calibri"/>
            </a:endParaRPr>
          </a:p>
          <a:p>
            <a:pPr>
              <a:lnSpc>
                <a:spcPct val="90000"/>
              </a:lnSpc>
              <a:spcAft>
                <a:spcPts val="600"/>
              </a:spcAft>
            </a:pPr>
            <a:endParaRPr lang="en-US" sz="1600">
              <a:ea typeface="Calibri"/>
              <a:cs typeface="Calibri"/>
            </a:endParaRPr>
          </a:p>
        </p:txBody>
      </p:sp>
    </p:spTree>
    <p:extLst>
      <p:ext uri="{BB962C8B-B14F-4D97-AF65-F5344CB8AC3E}">
        <p14:creationId xmlns:p14="http://schemas.microsoft.com/office/powerpoint/2010/main" val="22130515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93B0EB-221A-0D6F-02AB-2DBEE083D657}"/>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E53CAC14-A1D8-F1DC-F7D5-C07E47BA4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black and white logo&#10;&#10;AI-generated content may be incorrect.">
            <a:extLst>
              <a:ext uri="{FF2B5EF4-FFF2-40B4-BE49-F238E27FC236}">
                <a16:creationId xmlns:a16="http://schemas.microsoft.com/office/drawing/2014/main" id="{D6A4A772-46CE-CDE8-A314-BDC56ED6E4A2}"/>
              </a:ext>
            </a:extLst>
          </p:cNvPr>
          <p:cNvPicPr>
            <a:picLocks noGrp="1" noChangeAspect="1"/>
          </p:cNvPicPr>
          <p:nvPr>
            <p:ph sz="half" idx="1"/>
          </p:nvPr>
        </p:nvPicPr>
        <p:blipFill>
          <a:blip r:embed="rId3"/>
          <a:stretch>
            <a:fillRect/>
          </a:stretch>
        </p:blipFill>
        <p:spPr>
          <a:xfrm>
            <a:off x="5273566" y="2880277"/>
            <a:ext cx="2143871" cy="2143871"/>
          </a:xfrm>
          <a:prstGeom prst="rect">
            <a:avLst/>
          </a:prstGeom>
        </p:spPr>
      </p:pic>
      <p:pic>
        <p:nvPicPr>
          <p:cNvPr id="6" name="Picture 5" descr="A computer screen with graph and gear&#10;&#10;AI-generated content may be incorrect.">
            <a:extLst>
              <a:ext uri="{FF2B5EF4-FFF2-40B4-BE49-F238E27FC236}">
                <a16:creationId xmlns:a16="http://schemas.microsoft.com/office/drawing/2014/main" id="{0051BA39-BBB2-9D56-C6F9-90BF2715D142}"/>
              </a:ext>
            </a:extLst>
          </p:cNvPr>
          <p:cNvPicPr>
            <a:picLocks noChangeAspect="1"/>
          </p:cNvPicPr>
          <p:nvPr/>
        </p:nvPicPr>
        <p:blipFill>
          <a:blip r:embed="rId4"/>
          <a:stretch>
            <a:fillRect/>
          </a:stretch>
        </p:blipFill>
        <p:spPr>
          <a:xfrm>
            <a:off x="9942193" y="3341266"/>
            <a:ext cx="1109261" cy="1109261"/>
          </a:xfrm>
          <a:prstGeom prst="rect">
            <a:avLst/>
          </a:prstGeom>
        </p:spPr>
      </p:pic>
      <p:sp>
        <p:nvSpPr>
          <p:cNvPr id="3" name="Arrow: Right 2">
            <a:extLst>
              <a:ext uri="{FF2B5EF4-FFF2-40B4-BE49-F238E27FC236}">
                <a16:creationId xmlns:a16="http://schemas.microsoft.com/office/drawing/2014/main" id="{8B8B27E1-922B-DA26-BED3-547016659B09}"/>
              </a:ext>
            </a:extLst>
          </p:cNvPr>
          <p:cNvSpPr/>
          <p:nvPr/>
        </p:nvSpPr>
        <p:spPr>
          <a:xfrm>
            <a:off x="7254051" y="3861270"/>
            <a:ext cx="523523" cy="19285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4FABD49F-74E6-A38D-89F1-791D882D1F05}"/>
              </a:ext>
            </a:extLst>
          </p:cNvPr>
          <p:cNvSpPr/>
          <p:nvPr/>
        </p:nvSpPr>
        <p:spPr>
          <a:xfrm>
            <a:off x="9191977" y="3851863"/>
            <a:ext cx="523523" cy="19285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651E776-7723-77C1-ACC1-31D3A68A5280}"/>
              </a:ext>
            </a:extLst>
          </p:cNvPr>
          <p:cNvSpPr txBox="1"/>
          <p:nvPr/>
        </p:nvSpPr>
        <p:spPr>
          <a:xfrm>
            <a:off x="5791200" y="4648200"/>
            <a:ext cx="1346200" cy="2667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id="{2069C9F8-F6BB-7232-3D47-7E4930A3E184}"/>
              </a:ext>
            </a:extLst>
          </p:cNvPr>
          <p:cNvSpPr txBox="1"/>
          <p:nvPr/>
        </p:nvSpPr>
        <p:spPr>
          <a:xfrm>
            <a:off x="5639740" y="4668426"/>
            <a:ext cx="82785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Source</a:t>
            </a:r>
          </a:p>
        </p:txBody>
      </p:sp>
      <p:sp>
        <p:nvSpPr>
          <p:cNvPr id="13" name="TextBox 12">
            <a:extLst>
              <a:ext uri="{FF2B5EF4-FFF2-40B4-BE49-F238E27FC236}">
                <a16:creationId xmlns:a16="http://schemas.microsoft.com/office/drawing/2014/main" id="{CE37E2C1-7708-5E37-BF7C-179FB068324F}"/>
              </a:ext>
            </a:extLst>
          </p:cNvPr>
          <p:cNvSpPr txBox="1"/>
          <p:nvPr/>
        </p:nvSpPr>
        <p:spPr>
          <a:xfrm>
            <a:off x="8051800" y="4734749"/>
            <a:ext cx="139888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PostgreSQL</a:t>
            </a:r>
          </a:p>
        </p:txBody>
      </p:sp>
      <p:sp>
        <p:nvSpPr>
          <p:cNvPr id="14" name="TextBox 13">
            <a:extLst>
              <a:ext uri="{FF2B5EF4-FFF2-40B4-BE49-F238E27FC236}">
                <a16:creationId xmlns:a16="http://schemas.microsoft.com/office/drawing/2014/main" id="{FB26546C-32AC-67F9-7D4E-94EB48427FAB}"/>
              </a:ext>
            </a:extLst>
          </p:cNvPr>
          <p:cNvSpPr txBox="1"/>
          <p:nvPr/>
        </p:nvSpPr>
        <p:spPr>
          <a:xfrm>
            <a:off x="10119548" y="4732396"/>
            <a:ext cx="166887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Power BI (Visualizat</a:t>
            </a:r>
            <a:r>
              <a:rPr lang="en-US" sz="1400"/>
              <a:t>ion</a:t>
            </a:r>
            <a:r>
              <a:rPr lang="en-US" sz="1400">
                <a:ea typeface="Calibri"/>
                <a:cs typeface="Calibri"/>
              </a:rPr>
              <a:t> tool)</a:t>
            </a:r>
          </a:p>
        </p:txBody>
      </p:sp>
      <p:sp>
        <p:nvSpPr>
          <p:cNvPr id="15" name="Arrow: Right 14">
            <a:extLst>
              <a:ext uri="{FF2B5EF4-FFF2-40B4-BE49-F238E27FC236}">
                <a16:creationId xmlns:a16="http://schemas.microsoft.com/office/drawing/2014/main" id="{BA09D42D-6CA7-8134-9D05-9DC8DD6EA2B1}"/>
              </a:ext>
            </a:extLst>
          </p:cNvPr>
          <p:cNvSpPr/>
          <p:nvPr/>
        </p:nvSpPr>
        <p:spPr>
          <a:xfrm>
            <a:off x="6623755" y="3851863"/>
            <a:ext cx="523523" cy="192853"/>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2882F24-02E4-15F0-2071-8042CF7A2BD8}"/>
              </a:ext>
            </a:extLst>
          </p:cNvPr>
          <p:cNvSpPr txBox="1"/>
          <p:nvPr/>
        </p:nvSpPr>
        <p:spPr>
          <a:xfrm>
            <a:off x="6563549" y="3567289"/>
            <a:ext cx="639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ea typeface="Calibri"/>
                <a:cs typeface="Calibri"/>
              </a:rPr>
              <a:t>Extract</a:t>
            </a:r>
          </a:p>
        </p:txBody>
      </p:sp>
      <p:sp>
        <p:nvSpPr>
          <p:cNvPr id="18" name="TextBox 17">
            <a:extLst>
              <a:ext uri="{FF2B5EF4-FFF2-40B4-BE49-F238E27FC236}">
                <a16:creationId xmlns:a16="http://schemas.microsoft.com/office/drawing/2014/main" id="{A25341CC-4B1B-044A-8BBF-455A6B2B6491}"/>
              </a:ext>
            </a:extLst>
          </p:cNvPr>
          <p:cNvSpPr txBox="1"/>
          <p:nvPr/>
        </p:nvSpPr>
        <p:spPr>
          <a:xfrm>
            <a:off x="7254805" y="3576696"/>
            <a:ext cx="639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ea typeface="Calibri"/>
                <a:cs typeface="Calibri"/>
              </a:rPr>
              <a:t>Load</a:t>
            </a:r>
          </a:p>
        </p:txBody>
      </p:sp>
      <p:sp>
        <p:nvSpPr>
          <p:cNvPr id="19" name="TextBox 18">
            <a:extLst>
              <a:ext uri="{FF2B5EF4-FFF2-40B4-BE49-F238E27FC236}">
                <a16:creationId xmlns:a16="http://schemas.microsoft.com/office/drawing/2014/main" id="{37C76C08-A52D-603C-4B12-4C9F1380D0FF}"/>
              </a:ext>
            </a:extLst>
          </p:cNvPr>
          <p:cNvSpPr txBox="1"/>
          <p:nvPr/>
        </p:nvSpPr>
        <p:spPr>
          <a:xfrm>
            <a:off x="9232900" y="3644900"/>
            <a:ext cx="685800" cy="127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0" name="TextBox 19">
            <a:extLst>
              <a:ext uri="{FF2B5EF4-FFF2-40B4-BE49-F238E27FC236}">
                <a16:creationId xmlns:a16="http://schemas.microsoft.com/office/drawing/2014/main" id="{5AA83AFB-22AE-F0C6-C288-2890C0F3E6FF}"/>
              </a:ext>
            </a:extLst>
          </p:cNvPr>
          <p:cNvSpPr txBox="1"/>
          <p:nvPr/>
        </p:nvSpPr>
        <p:spPr>
          <a:xfrm>
            <a:off x="9098280" y="3563620"/>
            <a:ext cx="711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ea typeface="Calibri"/>
                <a:cs typeface="Calibri"/>
              </a:rPr>
              <a:t>Analyze</a:t>
            </a:r>
          </a:p>
        </p:txBody>
      </p:sp>
      <p:sp>
        <p:nvSpPr>
          <p:cNvPr id="21" name="TextBox 20">
            <a:extLst>
              <a:ext uri="{FF2B5EF4-FFF2-40B4-BE49-F238E27FC236}">
                <a16:creationId xmlns:a16="http://schemas.microsoft.com/office/drawing/2014/main" id="{CEAF2B5C-5517-289B-32EA-053D9C74C83A}"/>
              </a:ext>
            </a:extLst>
          </p:cNvPr>
          <p:cNvSpPr txBox="1"/>
          <p:nvPr/>
        </p:nvSpPr>
        <p:spPr>
          <a:xfrm>
            <a:off x="9113520" y="4056380"/>
            <a:ext cx="9144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Calibri"/>
                <a:cs typeface="Calibri"/>
              </a:rPr>
              <a:t>Prepared data</a:t>
            </a:r>
          </a:p>
        </p:txBody>
      </p:sp>
      <p:pic>
        <p:nvPicPr>
          <p:cNvPr id="2" name="Picture 1" descr="A blue logo with a circular object and a gear in the middle&#10;&#10;AI-generated content may be incorrect.">
            <a:extLst>
              <a:ext uri="{FF2B5EF4-FFF2-40B4-BE49-F238E27FC236}">
                <a16:creationId xmlns:a16="http://schemas.microsoft.com/office/drawing/2014/main" id="{8D85AEB4-6BB6-57E1-EE18-9F2D1F35229B}"/>
              </a:ext>
            </a:extLst>
          </p:cNvPr>
          <p:cNvPicPr>
            <a:picLocks noChangeAspect="1"/>
          </p:cNvPicPr>
          <p:nvPr/>
        </p:nvPicPr>
        <p:blipFill>
          <a:blip r:embed="rId5"/>
          <a:stretch>
            <a:fillRect/>
          </a:stretch>
        </p:blipFill>
        <p:spPr>
          <a:xfrm>
            <a:off x="7857301" y="3419583"/>
            <a:ext cx="1331244" cy="1106707"/>
          </a:xfrm>
          <a:prstGeom prst="rect">
            <a:avLst/>
          </a:prstGeom>
        </p:spPr>
      </p:pic>
      <p:sp>
        <p:nvSpPr>
          <p:cNvPr id="7" name="TextBox 6">
            <a:extLst>
              <a:ext uri="{FF2B5EF4-FFF2-40B4-BE49-F238E27FC236}">
                <a16:creationId xmlns:a16="http://schemas.microsoft.com/office/drawing/2014/main" id="{A0E9DF56-8FB0-FD96-0EAF-2AF19CD6215F}"/>
              </a:ext>
            </a:extLst>
          </p:cNvPr>
          <p:cNvSpPr txBox="1"/>
          <p:nvPr/>
        </p:nvSpPr>
        <p:spPr>
          <a:xfrm>
            <a:off x="576580" y="1323226"/>
            <a:ext cx="4368602" cy="178448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cap="all">
                <a:latin typeface="+mj-lt"/>
                <a:ea typeface="+mj-ea"/>
                <a:cs typeface="+mj-cs"/>
              </a:rPr>
              <a:t>SOLUTION OVERVIEW</a:t>
            </a:r>
            <a:r>
              <a:rPr lang="en-US" sz="4000" b="1" cap="all">
                <a:latin typeface="+mj-lt"/>
                <a:ea typeface="+mj-ea"/>
                <a:cs typeface="+mj-cs"/>
              </a:rPr>
              <a:t> </a:t>
            </a:r>
            <a:endParaRPr lang="en-US" sz="4000" cap="all">
              <a:latin typeface="+mj-lt"/>
              <a:ea typeface="Calibri Light"/>
              <a:cs typeface="Calibri Light"/>
            </a:endParaRPr>
          </a:p>
          <a:p>
            <a:pPr marL="0" marR="0">
              <a:lnSpc>
                <a:spcPct val="90000"/>
              </a:lnSpc>
              <a:spcBef>
                <a:spcPct val="0"/>
              </a:spcBef>
              <a:spcAft>
                <a:spcPts val="600"/>
              </a:spcAft>
            </a:pPr>
            <a:endParaRPr lang="en-US" sz="4000" b="1" cap="all">
              <a:latin typeface="+mj-lt"/>
              <a:ea typeface="Calibri Light"/>
              <a:cs typeface="Calibri Light"/>
            </a:endParaRPr>
          </a:p>
        </p:txBody>
      </p:sp>
      <p:sp>
        <p:nvSpPr>
          <p:cNvPr id="29" name="sketchy line">
            <a:extLst>
              <a:ext uri="{FF2B5EF4-FFF2-40B4-BE49-F238E27FC236}">
                <a16:creationId xmlns:a16="http://schemas.microsoft.com/office/drawing/2014/main" id="{67F76A8D-94EA-E5C4-90AF-2F7A59277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A98294D-5768-74F7-F6DE-2F3082F2DFA7}"/>
              </a:ext>
            </a:extLst>
          </p:cNvPr>
          <p:cNvSpPr txBox="1"/>
          <p:nvPr/>
        </p:nvSpPr>
        <p:spPr>
          <a:xfrm>
            <a:off x="640080" y="2872899"/>
            <a:ext cx="4243589" cy="3674453"/>
          </a:xfrm>
          <a:prstGeom prst="rect">
            <a:avLst/>
          </a:prstGeom>
        </p:spPr>
        <p:txBody>
          <a:bodyPr vert="horz" lIns="91440" tIns="45720" rIns="91440" bIns="45720" rtlCol="0" anchor="t">
            <a:noAutofit/>
          </a:bodyPr>
          <a:lstStyle/>
          <a:p>
            <a:pPr marL="285750" indent="-285750">
              <a:lnSpc>
                <a:spcPct val="90000"/>
              </a:lnSpc>
              <a:spcAft>
                <a:spcPts val="600"/>
              </a:spcAft>
              <a:buFont typeface="Arial"/>
              <a:buChar char="•"/>
            </a:pPr>
            <a:r>
              <a:rPr lang="en-US" sz="1400">
                <a:ea typeface="+mn-lt"/>
                <a:cs typeface="+mn-lt"/>
              </a:rPr>
              <a:t>We used the </a:t>
            </a:r>
            <a:r>
              <a:rPr lang="en-US" sz="1400" b="1">
                <a:ea typeface="+mn-lt"/>
                <a:cs typeface="+mn-lt"/>
              </a:rPr>
              <a:t>blood bank dataset given</a:t>
            </a:r>
            <a:r>
              <a:rPr lang="en-US" sz="1400">
                <a:ea typeface="+mn-lt"/>
                <a:cs typeface="+mn-lt"/>
              </a:rPr>
              <a:t> as source data</a:t>
            </a:r>
            <a:r>
              <a:rPr lang="en-US" sz="1400">
                <a:effectLst/>
                <a:ea typeface="+mn-lt"/>
                <a:cs typeface="+mn-lt"/>
              </a:rPr>
              <a:t>.</a:t>
            </a:r>
            <a:endParaRPr lang="en-US" sz="1400" b="1">
              <a:ea typeface="+mn-lt"/>
              <a:cs typeface="+mn-lt"/>
            </a:endParaRPr>
          </a:p>
          <a:p>
            <a:pPr indent="-228600">
              <a:lnSpc>
                <a:spcPct val="90000"/>
              </a:lnSpc>
              <a:spcAft>
                <a:spcPts val="600"/>
              </a:spcAft>
              <a:buFont typeface="Arial" panose="020B0604020202020204" pitchFamily="34" charset="0"/>
              <a:buChar char="•"/>
            </a:pPr>
            <a:endParaRPr lang="en-US" sz="1400">
              <a:ea typeface="Calibri"/>
              <a:cs typeface="Calibri"/>
            </a:endParaRPr>
          </a:p>
          <a:p>
            <a:pPr marL="285750" indent="-285750">
              <a:lnSpc>
                <a:spcPct val="90000"/>
              </a:lnSpc>
              <a:spcAft>
                <a:spcPts val="600"/>
              </a:spcAft>
              <a:buFont typeface="Arial"/>
              <a:buChar char="•"/>
            </a:pPr>
            <a:r>
              <a:rPr lang="en-US" sz="1400">
                <a:ea typeface="+mn-lt"/>
                <a:cs typeface="+mn-lt"/>
              </a:rPr>
              <a:t>The source data was loaded into </a:t>
            </a:r>
            <a:r>
              <a:rPr lang="en-US" sz="1400" b="1">
                <a:ea typeface="+mn-lt"/>
                <a:cs typeface="+mn-lt"/>
              </a:rPr>
              <a:t>data warehouse</a:t>
            </a:r>
            <a:r>
              <a:rPr lang="en-US" sz="1400">
                <a:ea typeface="+mn-lt"/>
                <a:cs typeface="+mn-lt"/>
              </a:rPr>
              <a:t> for further processing.</a:t>
            </a:r>
            <a:endParaRPr lang="en-US" sz="1400">
              <a:ea typeface="Calibri" panose="020F0502020204030204"/>
              <a:cs typeface="Calibri" panose="020F0502020204030204"/>
            </a:endParaRPr>
          </a:p>
          <a:p>
            <a:pPr indent="-228600">
              <a:lnSpc>
                <a:spcPct val="90000"/>
              </a:lnSpc>
              <a:spcAft>
                <a:spcPts val="600"/>
              </a:spcAft>
              <a:buFont typeface="Arial" panose="020B0604020202020204" pitchFamily="34" charset="0"/>
              <a:buChar char="•"/>
            </a:pPr>
            <a:endParaRPr lang="en-US" sz="1400"/>
          </a:p>
          <a:p>
            <a:pPr marL="285750" indent="-285750">
              <a:lnSpc>
                <a:spcPct val="90000"/>
              </a:lnSpc>
              <a:spcAft>
                <a:spcPts val="600"/>
              </a:spcAft>
              <a:buFont typeface="Arial"/>
              <a:buChar char="•"/>
            </a:pPr>
            <a:r>
              <a:rPr lang="en-US" sz="1400">
                <a:ea typeface="Calibri"/>
                <a:cs typeface="Calibri"/>
              </a:rPr>
              <a:t>Built a layered data pipeline to clean, transform and organize the data.</a:t>
            </a:r>
          </a:p>
          <a:p>
            <a:pPr indent="-228600">
              <a:lnSpc>
                <a:spcPct val="90000"/>
              </a:lnSpc>
              <a:spcAft>
                <a:spcPts val="600"/>
              </a:spcAft>
              <a:buFont typeface="Arial" panose="020B0604020202020204" pitchFamily="34" charset="0"/>
              <a:buChar char="•"/>
            </a:pPr>
            <a:endParaRPr lang="en-US" sz="1400"/>
          </a:p>
          <a:p>
            <a:pPr marL="285750" indent="-285750">
              <a:lnSpc>
                <a:spcPct val="90000"/>
              </a:lnSpc>
              <a:spcAft>
                <a:spcPts val="600"/>
              </a:spcAft>
              <a:buFont typeface="Arial"/>
              <a:buChar char="•"/>
            </a:pPr>
            <a:r>
              <a:rPr lang="en-US" sz="1400">
                <a:ea typeface="Calibri"/>
                <a:cs typeface="Calibri"/>
              </a:rPr>
              <a:t>The prepared data was used to generate reports and derive business insights </a:t>
            </a:r>
          </a:p>
        </p:txBody>
      </p:sp>
    </p:spTree>
    <p:extLst>
      <p:ext uri="{BB962C8B-B14F-4D97-AF65-F5344CB8AC3E}">
        <p14:creationId xmlns:p14="http://schemas.microsoft.com/office/powerpoint/2010/main" val="649440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2BCF24-9EFD-82A8-F243-C6E3B39049AA}"/>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95F3BC6-F9FA-618F-DC88-099812DF10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sketchy line">
            <a:extLst>
              <a:ext uri="{FF2B5EF4-FFF2-40B4-BE49-F238E27FC236}">
                <a16:creationId xmlns:a16="http://schemas.microsoft.com/office/drawing/2014/main" id="{BEFEF4AE-D9FF-D09A-214E-5A1F5ACD9B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3F9CDF7-DF91-EE60-FCDD-0A3E695DD64F}"/>
              </a:ext>
            </a:extLst>
          </p:cNvPr>
          <p:cNvSpPr txBox="1"/>
          <p:nvPr/>
        </p:nvSpPr>
        <p:spPr>
          <a:xfrm>
            <a:off x="640080" y="2872899"/>
            <a:ext cx="4524803" cy="3719810"/>
          </a:xfrm>
          <a:prstGeom prst="rect">
            <a:avLst/>
          </a:prstGeom>
        </p:spPr>
        <p:txBody>
          <a:bodyPr vert="horz" lIns="91440" tIns="45720" rIns="91440" bIns="45720" rtlCol="0" anchor="t">
            <a:noAutofit/>
          </a:bodyPr>
          <a:lstStyle/>
          <a:p>
            <a:pPr marL="285750" indent="-285750">
              <a:buFont typeface="Arial,Sans-Serif"/>
              <a:buChar char="•"/>
            </a:pPr>
            <a:r>
              <a:rPr lang="en-US" sz="1400" b="1" dirty="0">
                <a:ea typeface="+mn-lt"/>
                <a:cs typeface="+mn-lt"/>
              </a:rPr>
              <a:t>Python</a:t>
            </a:r>
            <a:r>
              <a:rPr lang="en-US" sz="1400" dirty="0">
                <a:ea typeface="+mn-lt"/>
                <a:cs typeface="+mn-lt"/>
              </a:rPr>
              <a:t> was used to generate large-scale </a:t>
            </a:r>
            <a:r>
              <a:rPr lang="en-US" sz="1400">
                <a:ea typeface="+mn-lt"/>
                <a:cs typeface="+mn-lt"/>
              </a:rPr>
              <a:t>mock data</a:t>
            </a:r>
            <a:r>
              <a:rPr lang="en-US" sz="1400" dirty="0">
                <a:ea typeface="+mn-lt"/>
                <a:cs typeface="+mn-lt"/>
              </a:rPr>
              <a:t> for fact and dimension tables.</a:t>
            </a:r>
          </a:p>
          <a:p>
            <a:endParaRPr lang="en-US" sz="1400" b="1" dirty="0">
              <a:ea typeface="+mn-lt"/>
              <a:cs typeface="+mn-lt"/>
            </a:endParaRPr>
          </a:p>
          <a:p>
            <a:pPr marL="285750" indent="-285750">
              <a:buFont typeface="Arial"/>
              <a:buChar char="•"/>
            </a:pPr>
            <a:r>
              <a:rPr lang="en-US" sz="1400" b="1" dirty="0" err="1">
                <a:ea typeface="+mn-lt"/>
                <a:cs typeface="+mn-lt"/>
              </a:rPr>
              <a:t>dbt</a:t>
            </a:r>
            <a:r>
              <a:rPr lang="en-US" sz="1400" dirty="0">
                <a:ea typeface="+mn-lt"/>
                <a:cs typeface="+mn-lt"/>
              </a:rPr>
              <a:t> helps us clean and transform raw data and build the analytical data used for reporting.</a:t>
            </a:r>
            <a:endParaRPr lang="en-US" sz="1400" b="1" dirty="0">
              <a:ea typeface="+mn-lt"/>
              <a:cs typeface="+mn-lt"/>
            </a:endParaRPr>
          </a:p>
          <a:p>
            <a:pPr>
              <a:buFont typeface="Arial"/>
              <a:buChar char="•"/>
            </a:pPr>
            <a:endParaRPr lang="en-US" sz="1400">
              <a:ea typeface="+mn-lt"/>
              <a:cs typeface="+mn-lt"/>
            </a:endParaRPr>
          </a:p>
          <a:p>
            <a:pPr marL="285750" indent="-285750">
              <a:buFont typeface="Arial"/>
              <a:buChar char="•"/>
            </a:pPr>
            <a:r>
              <a:rPr lang="en-US" sz="1400" b="1">
                <a:ea typeface="+mn-lt"/>
                <a:cs typeface="+mn-lt"/>
              </a:rPr>
              <a:t>SQL</a:t>
            </a:r>
            <a:r>
              <a:rPr lang="en-US" sz="1400">
                <a:ea typeface="+mn-lt"/>
                <a:cs typeface="+mn-lt"/>
              </a:rPr>
              <a:t> was used to write queries for transforming data and writing reporting queries.</a:t>
            </a:r>
          </a:p>
          <a:p>
            <a:pPr>
              <a:buFont typeface="Arial"/>
              <a:buChar char="•"/>
            </a:pPr>
            <a:endParaRPr lang="en-US" sz="1400">
              <a:ea typeface="+mn-lt"/>
              <a:cs typeface="+mn-lt"/>
            </a:endParaRPr>
          </a:p>
          <a:p>
            <a:pPr marL="285750" indent="-285750">
              <a:buFont typeface="Arial"/>
              <a:buChar char="•"/>
            </a:pPr>
            <a:r>
              <a:rPr lang="en-US" sz="1400" b="1">
                <a:ea typeface="+mn-lt"/>
                <a:cs typeface="+mn-lt"/>
              </a:rPr>
              <a:t>PostgreSQL</a:t>
            </a:r>
            <a:r>
              <a:rPr lang="en-US" sz="1400">
                <a:ea typeface="+mn-lt"/>
                <a:cs typeface="+mn-lt"/>
              </a:rPr>
              <a:t> was used as the data warehouse to store processed data and run analytical queries.</a:t>
            </a:r>
            <a:endParaRPr lang="en-US">
              <a:ea typeface="+mn-lt"/>
              <a:cs typeface="+mn-lt"/>
            </a:endParaRPr>
          </a:p>
          <a:p>
            <a:endParaRPr lang="en-US" sz="1400" dirty="0">
              <a:ea typeface="+mn-lt"/>
              <a:cs typeface="+mn-lt"/>
            </a:endParaRPr>
          </a:p>
          <a:p>
            <a:pPr marL="285750" indent="-285750">
              <a:buFont typeface="Arial"/>
              <a:buChar char="•"/>
            </a:pPr>
            <a:r>
              <a:rPr lang="en-US" sz="1400" b="1" dirty="0">
                <a:ea typeface="+mn-lt"/>
                <a:cs typeface="+mn-lt"/>
              </a:rPr>
              <a:t>Git</a:t>
            </a:r>
            <a:r>
              <a:rPr lang="en-US" sz="1400">
                <a:ea typeface="+mn-lt"/>
                <a:cs typeface="+mn-lt"/>
              </a:rPr>
              <a:t> was used to manage versions of the code and track changes.</a:t>
            </a:r>
          </a:p>
          <a:p>
            <a:endParaRPr lang="en-US" sz="1400" dirty="0">
              <a:ea typeface="+mn-lt"/>
              <a:cs typeface="+mn-lt"/>
            </a:endParaRPr>
          </a:p>
          <a:p>
            <a:pPr marL="285750" indent="-285750">
              <a:buFont typeface="Arial"/>
              <a:buChar char="•"/>
            </a:pPr>
            <a:r>
              <a:rPr lang="en-US" sz="1400" b="1">
                <a:ea typeface="+mn-lt"/>
                <a:cs typeface="+mn-lt"/>
              </a:rPr>
              <a:t>Microsoft Power BI</a:t>
            </a:r>
            <a:r>
              <a:rPr lang="en-US" sz="1400">
                <a:ea typeface="+mn-lt"/>
                <a:cs typeface="+mn-lt"/>
              </a:rPr>
              <a:t> was used to create reports and dashboards to visualize insights from the data</a:t>
            </a:r>
            <a:r>
              <a:rPr lang="en-US" sz="1400">
                <a:effectLst/>
                <a:ea typeface="+mn-lt"/>
                <a:cs typeface="+mn-lt"/>
              </a:rPr>
              <a:t>.</a:t>
            </a:r>
            <a:endParaRPr lang="en-US">
              <a:ea typeface="+mn-lt"/>
              <a:cs typeface="+mn-lt"/>
            </a:endParaRPr>
          </a:p>
          <a:p>
            <a:pPr>
              <a:buFont typeface="Arial"/>
              <a:buChar char="•"/>
            </a:pPr>
            <a:endParaRPr lang="en-US" sz="1400">
              <a:ea typeface="+mn-lt"/>
              <a:cs typeface="+mn-lt"/>
            </a:endParaRPr>
          </a:p>
          <a:p>
            <a:endParaRPr lang="en-US" sz="1400">
              <a:ea typeface="+mn-lt"/>
              <a:cs typeface="+mn-lt"/>
            </a:endParaRPr>
          </a:p>
          <a:p>
            <a:pPr marL="171450" marR="0" indent="-171450">
              <a:lnSpc>
                <a:spcPct val="90000"/>
              </a:lnSpc>
              <a:spcAft>
                <a:spcPts val="600"/>
              </a:spcAft>
              <a:buFont typeface="Arial"/>
              <a:buChar char="•"/>
            </a:pPr>
            <a:endParaRPr lang="en-US" sz="1400" b="1">
              <a:ea typeface="Calibri"/>
              <a:cs typeface="Calibri"/>
            </a:endParaRPr>
          </a:p>
        </p:txBody>
      </p:sp>
      <p:sp>
        <p:nvSpPr>
          <p:cNvPr id="2" name="TextBox 1">
            <a:extLst>
              <a:ext uri="{FF2B5EF4-FFF2-40B4-BE49-F238E27FC236}">
                <a16:creationId xmlns:a16="http://schemas.microsoft.com/office/drawing/2014/main" id="{76671150-1F8A-B7D5-D018-18BBEA7465A0}"/>
              </a:ext>
            </a:extLst>
          </p:cNvPr>
          <p:cNvSpPr txBox="1"/>
          <p:nvPr/>
        </p:nvSpPr>
        <p:spPr>
          <a:xfrm>
            <a:off x="644071" y="1370121"/>
            <a:ext cx="4497078"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baseline="0">
                <a:latin typeface="Calibri Light"/>
              </a:rPr>
              <a:t>TOOLS </a:t>
            </a:r>
            <a:r>
              <a:rPr lang="en-US" sz="3200" b="1">
                <a:latin typeface="Calibri Light"/>
              </a:rPr>
              <a:t>AND TECHNOLOGIES USED</a:t>
            </a:r>
            <a:endParaRPr lang="en-US"/>
          </a:p>
          <a:p>
            <a:pPr algn="ctr"/>
            <a:endParaRPr lang="en-US"/>
          </a:p>
        </p:txBody>
      </p:sp>
      <p:pic>
        <p:nvPicPr>
          <p:cNvPr id="6" name="Content Placeholder 5" descr="A person and person sitting at a table with laptops&#10;&#10;AI-generated content may be incorrect.">
            <a:extLst>
              <a:ext uri="{FF2B5EF4-FFF2-40B4-BE49-F238E27FC236}">
                <a16:creationId xmlns:a16="http://schemas.microsoft.com/office/drawing/2014/main" id="{8B3C5450-85D8-5E24-240B-57638F6ABD29}"/>
              </a:ext>
            </a:extLst>
          </p:cNvPr>
          <p:cNvPicPr>
            <a:picLocks noGrp="1" noChangeAspect="1"/>
          </p:cNvPicPr>
          <p:nvPr>
            <p:ph sz="half" idx="1"/>
          </p:nvPr>
        </p:nvPicPr>
        <p:blipFill>
          <a:blip r:embed="rId3"/>
          <a:stretch>
            <a:fillRect/>
          </a:stretch>
        </p:blipFill>
        <p:spPr>
          <a:xfrm>
            <a:off x="6574525" y="2946056"/>
            <a:ext cx="5181600" cy="2917794"/>
          </a:xfrm>
          <a:prstGeom prst="rect">
            <a:avLst/>
          </a:prstGeom>
        </p:spPr>
      </p:pic>
    </p:spTree>
    <p:extLst>
      <p:ext uri="{BB962C8B-B14F-4D97-AF65-F5344CB8AC3E}">
        <p14:creationId xmlns:p14="http://schemas.microsoft.com/office/powerpoint/2010/main" val="3937040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798FB9-38FE-B341-3039-6EA5FC644425}"/>
            </a:ext>
          </a:extLst>
        </p:cNvPr>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C8898C29-0FBA-CEBE-75B7-2510278A7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Content Placeholder 3" descr="A black and white logo&#10;&#10;AI-generated content may be incorrect.">
            <a:extLst>
              <a:ext uri="{FF2B5EF4-FFF2-40B4-BE49-F238E27FC236}">
                <a16:creationId xmlns:a16="http://schemas.microsoft.com/office/drawing/2014/main" id="{C3B28198-1459-5CFA-C0E2-380407E02F56}"/>
              </a:ext>
            </a:extLst>
          </p:cNvPr>
          <p:cNvPicPr>
            <a:picLocks noChangeAspect="1"/>
          </p:cNvPicPr>
          <p:nvPr/>
        </p:nvPicPr>
        <p:blipFill>
          <a:blip r:embed="rId3"/>
          <a:stretch>
            <a:fillRect/>
          </a:stretch>
        </p:blipFill>
        <p:spPr>
          <a:xfrm>
            <a:off x="5405270" y="3200129"/>
            <a:ext cx="1494760" cy="1504167"/>
          </a:xfrm>
          <a:prstGeom prst="rect">
            <a:avLst/>
          </a:prstGeom>
        </p:spPr>
      </p:pic>
      <p:pic>
        <p:nvPicPr>
          <p:cNvPr id="61" name="Picture 60" descr="A computer screen with graph and gear&#10;&#10;AI-generated content may be incorrect.">
            <a:extLst>
              <a:ext uri="{FF2B5EF4-FFF2-40B4-BE49-F238E27FC236}">
                <a16:creationId xmlns:a16="http://schemas.microsoft.com/office/drawing/2014/main" id="{E79AF4F6-568A-779C-C7C0-2DD8DEF4C762}"/>
              </a:ext>
            </a:extLst>
          </p:cNvPr>
          <p:cNvPicPr>
            <a:picLocks noChangeAspect="1"/>
          </p:cNvPicPr>
          <p:nvPr/>
        </p:nvPicPr>
        <p:blipFill>
          <a:blip r:embed="rId4"/>
          <a:stretch>
            <a:fillRect/>
          </a:stretch>
        </p:blipFill>
        <p:spPr>
          <a:xfrm>
            <a:off x="10199579" y="3567044"/>
            <a:ext cx="789410" cy="732966"/>
          </a:xfrm>
          <a:prstGeom prst="rect">
            <a:avLst/>
          </a:prstGeom>
        </p:spPr>
      </p:pic>
      <p:sp>
        <p:nvSpPr>
          <p:cNvPr id="63" name="Arrow: Right 62">
            <a:extLst>
              <a:ext uri="{FF2B5EF4-FFF2-40B4-BE49-F238E27FC236}">
                <a16:creationId xmlns:a16="http://schemas.microsoft.com/office/drawing/2014/main" id="{1FBBAE97-579F-4CEF-2CD2-BF14A510EB0A}"/>
              </a:ext>
            </a:extLst>
          </p:cNvPr>
          <p:cNvSpPr/>
          <p:nvPr/>
        </p:nvSpPr>
        <p:spPr>
          <a:xfrm>
            <a:off x="7254051" y="3861270"/>
            <a:ext cx="523523" cy="19285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Arrow: Right 64">
            <a:extLst>
              <a:ext uri="{FF2B5EF4-FFF2-40B4-BE49-F238E27FC236}">
                <a16:creationId xmlns:a16="http://schemas.microsoft.com/office/drawing/2014/main" id="{F7AAC1F7-BA4D-3240-5EDD-EFB30FCE929F}"/>
              </a:ext>
            </a:extLst>
          </p:cNvPr>
          <p:cNvSpPr/>
          <p:nvPr/>
        </p:nvSpPr>
        <p:spPr>
          <a:xfrm>
            <a:off x="9492168" y="3863226"/>
            <a:ext cx="523523" cy="19285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A8449969-BA68-C83F-31A3-423FE55D87F8}"/>
              </a:ext>
            </a:extLst>
          </p:cNvPr>
          <p:cNvSpPr txBox="1"/>
          <p:nvPr/>
        </p:nvSpPr>
        <p:spPr>
          <a:xfrm>
            <a:off x="5737819" y="4509991"/>
            <a:ext cx="82785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Source</a:t>
            </a:r>
          </a:p>
        </p:txBody>
      </p:sp>
      <p:sp>
        <p:nvSpPr>
          <p:cNvPr id="71" name="TextBox 70">
            <a:extLst>
              <a:ext uri="{FF2B5EF4-FFF2-40B4-BE49-F238E27FC236}">
                <a16:creationId xmlns:a16="http://schemas.microsoft.com/office/drawing/2014/main" id="{DE7E9AB2-41F3-8D1B-EF65-9B773C9AD2CF}"/>
              </a:ext>
            </a:extLst>
          </p:cNvPr>
          <p:cNvSpPr txBox="1"/>
          <p:nvPr/>
        </p:nvSpPr>
        <p:spPr>
          <a:xfrm>
            <a:off x="8355192" y="4520886"/>
            <a:ext cx="139888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PostgreSQL</a:t>
            </a:r>
          </a:p>
        </p:txBody>
      </p:sp>
      <p:sp>
        <p:nvSpPr>
          <p:cNvPr id="73" name="TextBox 72">
            <a:extLst>
              <a:ext uri="{FF2B5EF4-FFF2-40B4-BE49-F238E27FC236}">
                <a16:creationId xmlns:a16="http://schemas.microsoft.com/office/drawing/2014/main" id="{8ABCE08A-4750-7CCB-C774-89C368147DD5}"/>
              </a:ext>
            </a:extLst>
          </p:cNvPr>
          <p:cNvSpPr txBox="1"/>
          <p:nvPr/>
        </p:nvSpPr>
        <p:spPr>
          <a:xfrm>
            <a:off x="10267823" y="4503443"/>
            <a:ext cx="86915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Power BI</a:t>
            </a:r>
          </a:p>
        </p:txBody>
      </p:sp>
      <p:sp>
        <p:nvSpPr>
          <p:cNvPr id="75" name="Arrow: Right 74">
            <a:extLst>
              <a:ext uri="{FF2B5EF4-FFF2-40B4-BE49-F238E27FC236}">
                <a16:creationId xmlns:a16="http://schemas.microsoft.com/office/drawing/2014/main" id="{D20CCD77-1D4C-DDB8-BD10-B19D4CB403BC}"/>
              </a:ext>
            </a:extLst>
          </p:cNvPr>
          <p:cNvSpPr/>
          <p:nvPr/>
        </p:nvSpPr>
        <p:spPr>
          <a:xfrm>
            <a:off x="6623755" y="3851863"/>
            <a:ext cx="523523" cy="192853"/>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E3AE031C-6FC8-C6B9-2417-5BF2A2A134B3}"/>
              </a:ext>
            </a:extLst>
          </p:cNvPr>
          <p:cNvSpPr txBox="1"/>
          <p:nvPr/>
        </p:nvSpPr>
        <p:spPr>
          <a:xfrm>
            <a:off x="6563549" y="3567289"/>
            <a:ext cx="639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ea typeface="Calibri"/>
                <a:cs typeface="Calibri"/>
              </a:rPr>
              <a:t>Extract</a:t>
            </a:r>
          </a:p>
        </p:txBody>
      </p:sp>
      <p:sp>
        <p:nvSpPr>
          <p:cNvPr id="79" name="TextBox 78">
            <a:extLst>
              <a:ext uri="{FF2B5EF4-FFF2-40B4-BE49-F238E27FC236}">
                <a16:creationId xmlns:a16="http://schemas.microsoft.com/office/drawing/2014/main" id="{BF2186BB-89F3-1555-3E4A-5F4F861825C5}"/>
              </a:ext>
            </a:extLst>
          </p:cNvPr>
          <p:cNvSpPr txBox="1"/>
          <p:nvPr/>
        </p:nvSpPr>
        <p:spPr>
          <a:xfrm>
            <a:off x="7254805" y="3576696"/>
            <a:ext cx="63970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ea typeface="Calibri"/>
                <a:cs typeface="Calibri"/>
              </a:rPr>
              <a:t>Load</a:t>
            </a:r>
          </a:p>
        </p:txBody>
      </p:sp>
      <p:sp>
        <p:nvSpPr>
          <p:cNvPr id="81" name="TextBox 80">
            <a:extLst>
              <a:ext uri="{FF2B5EF4-FFF2-40B4-BE49-F238E27FC236}">
                <a16:creationId xmlns:a16="http://schemas.microsoft.com/office/drawing/2014/main" id="{11C1055C-75AF-2379-C6DE-6E3C4EFF3B46}"/>
              </a:ext>
            </a:extLst>
          </p:cNvPr>
          <p:cNvSpPr txBox="1"/>
          <p:nvPr/>
        </p:nvSpPr>
        <p:spPr>
          <a:xfrm>
            <a:off x="9232900" y="3644900"/>
            <a:ext cx="685800" cy="1270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83" name="TextBox 82">
            <a:extLst>
              <a:ext uri="{FF2B5EF4-FFF2-40B4-BE49-F238E27FC236}">
                <a16:creationId xmlns:a16="http://schemas.microsoft.com/office/drawing/2014/main" id="{7FBE579C-3841-0596-801A-0C5D163693BC}"/>
              </a:ext>
            </a:extLst>
          </p:cNvPr>
          <p:cNvSpPr txBox="1"/>
          <p:nvPr/>
        </p:nvSpPr>
        <p:spPr>
          <a:xfrm>
            <a:off x="9490004" y="3573027"/>
            <a:ext cx="711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ea typeface="Calibri"/>
                <a:cs typeface="Calibri"/>
              </a:rPr>
              <a:t>Analyze</a:t>
            </a:r>
          </a:p>
        </p:txBody>
      </p:sp>
      <p:sp>
        <p:nvSpPr>
          <p:cNvPr id="85" name="TextBox 84">
            <a:extLst>
              <a:ext uri="{FF2B5EF4-FFF2-40B4-BE49-F238E27FC236}">
                <a16:creationId xmlns:a16="http://schemas.microsoft.com/office/drawing/2014/main" id="{79151413-ADEF-CFA9-0634-D083EAAC33B7}"/>
              </a:ext>
            </a:extLst>
          </p:cNvPr>
          <p:cNvSpPr txBox="1"/>
          <p:nvPr/>
        </p:nvSpPr>
        <p:spPr>
          <a:xfrm>
            <a:off x="9490193" y="4046220"/>
            <a:ext cx="7823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Calibri"/>
                <a:cs typeface="Calibri"/>
              </a:rPr>
              <a:t>Prepared data</a:t>
            </a:r>
          </a:p>
        </p:txBody>
      </p:sp>
      <p:sp>
        <p:nvSpPr>
          <p:cNvPr id="7" name="TextBox 6">
            <a:extLst>
              <a:ext uri="{FF2B5EF4-FFF2-40B4-BE49-F238E27FC236}">
                <a16:creationId xmlns:a16="http://schemas.microsoft.com/office/drawing/2014/main" id="{E9ADFDAC-E8E4-CDFC-039A-5ED96AFE96D7}"/>
              </a:ext>
            </a:extLst>
          </p:cNvPr>
          <p:cNvSpPr txBox="1"/>
          <p:nvPr/>
        </p:nvSpPr>
        <p:spPr>
          <a:xfrm>
            <a:off x="623617" y="1323226"/>
            <a:ext cx="4274528" cy="2320706"/>
          </a:xfrm>
          <a:prstGeom prst="rect">
            <a:avLst/>
          </a:prstGeom>
        </p:spPr>
        <p:txBody>
          <a:bodyPr vert="horz" lIns="91440" tIns="45720" rIns="91440" bIns="45720" rtlCol="0" anchor="b">
            <a:normAutofit/>
          </a:bodyPr>
          <a:lstStyle/>
          <a:p>
            <a:r>
              <a:rPr lang="en-US" sz="3200" b="1" cap="all">
                <a:latin typeface="+mj-lt"/>
                <a:ea typeface="+mj-ea"/>
                <a:cs typeface="+mj-cs"/>
              </a:rPr>
              <a:t>Data WAREHOUSE Architecture </a:t>
            </a:r>
            <a:endParaRPr lang="en-US" sz="3200" cap="all">
              <a:latin typeface="+mj-lt"/>
              <a:ea typeface="+mj-ea"/>
              <a:cs typeface="+mj-cs"/>
            </a:endParaRPr>
          </a:p>
          <a:p>
            <a:pPr>
              <a:lnSpc>
                <a:spcPct val="90000"/>
              </a:lnSpc>
              <a:spcBef>
                <a:spcPct val="0"/>
              </a:spcBef>
              <a:spcAft>
                <a:spcPts val="600"/>
              </a:spcAft>
            </a:pPr>
            <a:endParaRPr lang="en-US" sz="4000" b="1" cap="all">
              <a:latin typeface="+mj-lt"/>
              <a:ea typeface="Calibri Light"/>
              <a:cs typeface="Calibri Light"/>
            </a:endParaRPr>
          </a:p>
          <a:p>
            <a:pPr marL="0" marR="0">
              <a:lnSpc>
                <a:spcPct val="90000"/>
              </a:lnSpc>
              <a:spcBef>
                <a:spcPct val="0"/>
              </a:spcBef>
              <a:spcAft>
                <a:spcPts val="600"/>
              </a:spcAft>
            </a:pPr>
            <a:endParaRPr lang="en-US" sz="4000" b="1" cap="all">
              <a:latin typeface="+mj-lt"/>
              <a:ea typeface="Calibri Light"/>
              <a:cs typeface="Calibri Light"/>
            </a:endParaRPr>
          </a:p>
        </p:txBody>
      </p:sp>
      <p:sp>
        <p:nvSpPr>
          <p:cNvPr id="29" name="sketchy line">
            <a:extLst>
              <a:ext uri="{FF2B5EF4-FFF2-40B4-BE49-F238E27FC236}">
                <a16:creationId xmlns:a16="http://schemas.microsoft.com/office/drawing/2014/main" id="{A940FA23-C2D4-4D9E-5B83-37A2CD3112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D597C89-DC29-31C2-2DCC-4BC60C84341B}"/>
              </a:ext>
            </a:extLst>
          </p:cNvPr>
          <p:cNvSpPr txBox="1"/>
          <p:nvPr/>
        </p:nvSpPr>
        <p:spPr>
          <a:xfrm>
            <a:off x="640080" y="2872899"/>
            <a:ext cx="4243589" cy="3674453"/>
          </a:xfrm>
          <a:prstGeom prst="rect">
            <a:avLst/>
          </a:prstGeom>
        </p:spPr>
        <p:txBody>
          <a:bodyPr vert="horz" lIns="91440" tIns="45720" rIns="91440" bIns="45720" rtlCol="0" anchor="t">
            <a:noAutofit/>
          </a:bodyPr>
          <a:lstStyle/>
          <a:p>
            <a:pPr marL="285750" indent="-285750">
              <a:lnSpc>
                <a:spcPct val="90000"/>
              </a:lnSpc>
              <a:spcAft>
                <a:spcPts val="600"/>
              </a:spcAft>
              <a:buFont typeface="Arial"/>
              <a:buChar char="•"/>
            </a:pPr>
            <a:r>
              <a:rPr lang="en-US" sz="1400" b="1">
                <a:ea typeface="Calibri"/>
                <a:cs typeface="Calibri"/>
              </a:rPr>
              <a:t>Raw Layer</a:t>
            </a:r>
            <a:endParaRPr lang="en-US" sz="1400">
              <a:ea typeface="Calibri"/>
              <a:cs typeface="Calibri"/>
            </a:endParaRPr>
          </a:p>
          <a:p>
            <a:pPr>
              <a:lnSpc>
                <a:spcPct val="90000"/>
              </a:lnSpc>
              <a:spcAft>
                <a:spcPts val="600"/>
              </a:spcAft>
            </a:pPr>
            <a:r>
              <a:rPr lang="en-US" sz="1400">
                <a:ea typeface="Calibri"/>
                <a:cs typeface="Calibri"/>
              </a:rPr>
              <a:t>   Source dataset tables are </a:t>
            </a:r>
            <a:r>
              <a:rPr lang="en-US" sz="1400" b="1">
                <a:ea typeface="Calibri"/>
                <a:cs typeface="Calibri"/>
              </a:rPr>
              <a:t>replicated in the warehouse </a:t>
            </a:r>
            <a:r>
              <a:rPr lang="en-US" sz="1400">
                <a:ea typeface="Calibri"/>
                <a:cs typeface="Calibri"/>
              </a:rPr>
              <a:t>and assumed that data is already extracted into raw layer.</a:t>
            </a:r>
          </a:p>
          <a:p>
            <a:pPr>
              <a:lnSpc>
                <a:spcPct val="90000"/>
              </a:lnSpc>
              <a:spcAft>
                <a:spcPts val="600"/>
              </a:spcAft>
            </a:pPr>
            <a:endParaRPr lang="en-US" sz="1400">
              <a:ea typeface="Calibri"/>
              <a:cs typeface="Calibri"/>
            </a:endParaRPr>
          </a:p>
          <a:p>
            <a:pPr marL="285750" indent="-228600">
              <a:lnSpc>
                <a:spcPct val="90000"/>
              </a:lnSpc>
              <a:spcAft>
                <a:spcPts val="600"/>
              </a:spcAft>
              <a:buFont typeface="Arial"/>
              <a:buChar char="•"/>
            </a:pPr>
            <a:r>
              <a:rPr lang="en-US" sz="1400" b="1">
                <a:ea typeface="Calibri"/>
                <a:cs typeface="Calibri"/>
              </a:rPr>
              <a:t>Staging Layer</a:t>
            </a:r>
            <a:endParaRPr lang="en-US" sz="1400">
              <a:ea typeface="Calibri"/>
              <a:cs typeface="Calibri"/>
            </a:endParaRPr>
          </a:p>
          <a:p>
            <a:pPr>
              <a:lnSpc>
                <a:spcPct val="90000"/>
              </a:lnSpc>
              <a:spcAft>
                <a:spcPts val="600"/>
              </a:spcAft>
            </a:pPr>
            <a:r>
              <a:rPr lang="en-US" sz="1400">
                <a:ea typeface="Calibri"/>
                <a:cs typeface="Calibri"/>
              </a:rPr>
              <a:t>   Data is cleaned, standardized, and validated  for further processing.</a:t>
            </a:r>
          </a:p>
          <a:p>
            <a:pPr marL="285750" indent="-228600">
              <a:lnSpc>
                <a:spcPct val="90000"/>
              </a:lnSpc>
              <a:spcAft>
                <a:spcPts val="600"/>
              </a:spcAft>
              <a:buFont typeface="Arial"/>
              <a:buChar char="•"/>
            </a:pPr>
            <a:endParaRPr lang="en-US" sz="1400">
              <a:ea typeface="Calibri"/>
              <a:cs typeface="Calibri"/>
            </a:endParaRPr>
          </a:p>
          <a:p>
            <a:pPr marL="285750" indent="-228600">
              <a:lnSpc>
                <a:spcPct val="90000"/>
              </a:lnSpc>
              <a:spcAft>
                <a:spcPts val="600"/>
              </a:spcAft>
              <a:buFont typeface="Arial"/>
              <a:buChar char="•"/>
            </a:pPr>
            <a:r>
              <a:rPr lang="en-US" sz="1400" b="1">
                <a:ea typeface="Calibri"/>
                <a:cs typeface="Calibri"/>
              </a:rPr>
              <a:t>Analytics layer</a:t>
            </a:r>
            <a:endParaRPr lang="en-US" sz="1400">
              <a:ea typeface="Calibri"/>
              <a:cs typeface="Calibri"/>
            </a:endParaRPr>
          </a:p>
          <a:p>
            <a:pPr marL="57150">
              <a:lnSpc>
                <a:spcPct val="90000"/>
              </a:lnSpc>
              <a:spcAft>
                <a:spcPts val="600"/>
              </a:spcAft>
            </a:pPr>
            <a:r>
              <a:rPr lang="en-US" sz="1400">
                <a:ea typeface="Calibri"/>
                <a:cs typeface="Calibri"/>
              </a:rPr>
              <a:t>  The data was structured into facts and dimensions and prepared to support reporting and analysis.</a:t>
            </a:r>
          </a:p>
          <a:p>
            <a:pPr marL="285750" indent="-228600">
              <a:lnSpc>
                <a:spcPct val="90000"/>
              </a:lnSpc>
              <a:spcAft>
                <a:spcPts val="600"/>
              </a:spcAft>
              <a:buFont typeface="Arial"/>
              <a:buChar char="•"/>
            </a:pPr>
            <a:endParaRPr lang="en-US" sz="1400">
              <a:ea typeface="Calibri"/>
              <a:cs typeface="Calibri"/>
            </a:endParaRPr>
          </a:p>
          <a:p>
            <a:pPr algn="r">
              <a:lnSpc>
                <a:spcPct val="90000"/>
              </a:lnSpc>
              <a:spcAft>
                <a:spcPts val="600"/>
              </a:spcAft>
            </a:pPr>
            <a:endParaRPr lang="en-US" sz="1400">
              <a:ea typeface="Calibri"/>
              <a:cs typeface="Calibri"/>
            </a:endParaRPr>
          </a:p>
          <a:p>
            <a:pPr marL="285750" indent="-228600">
              <a:lnSpc>
                <a:spcPct val="90000"/>
              </a:lnSpc>
              <a:spcAft>
                <a:spcPts val="600"/>
              </a:spcAft>
              <a:buFont typeface="Arial"/>
              <a:buChar char="•"/>
            </a:pPr>
            <a:endParaRPr lang="en-US" sz="1400">
              <a:ea typeface="Calibri"/>
              <a:cs typeface="Calibri"/>
            </a:endParaRPr>
          </a:p>
          <a:p>
            <a:pPr>
              <a:lnSpc>
                <a:spcPct val="90000"/>
              </a:lnSpc>
              <a:spcAft>
                <a:spcPts val="600"/>
              </a:spcAft>
            </a:pPr>
            <a:endParaRPr lang="en-US" sz="1400" b="1">
              <a:ea typeface="Calibri"/>
              <a:cs typeface="Calibri"/>
            </a:endParaRPr>
          </a:p>
        </p:txBody>
      </p:sp>
      <p:sp>
        <p:nvSpPr>
          <p:cNvPr id="2" name="TextBox 1">
            <a:extLst>
              <a:ext uri="{FF2B5EF4-FFF2-40B4-BE49-F238E27FC236}">
                <a16:creationId xmlns:a16="http://schemas.microsoft.com/office/drawing/2014/main" id="{1CB86B04-DAB1-39E6-54D4-0F97E62191BE}"/>
              </a:ext>
            </a:extLst>
          </p:cNvPr>
          <p:cNvSpPr txBox="1"/>
          <p:nvPr/>
        </p:nvSpPr>
        <p:spPr>
          <a:xfrm>
            <a:off x="7184437" y="2410271"/>
            <a:ext cx="29104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MEDALLION ARCHITECTURE</a:t>
            </a:r>
            <a:endParaRPr lang="en-US"/>
          </a:p>
        </p:txBody>
      </p:sp>
      <p:pic>
        <p:nvPicPr>
          <p:cNvPr id="9" name="Picture 8" descr="A diagram of data warehouse&#10;&#10;AI-generated content may be incorrect.">
            <a:extLst>
              <a:ext uri="{FF2B5EF4-FFF2-40B4-BE49-F238E27FC236}">
                <a16:creationId xmlns:a16="http://schemas.microsoft.com/office/drawing/2014/main" id="{8E84944A-FBA6-54BE-98AA-CF701DF7620A}"/>
              </a:ext>
            </a:extLst>
          </p:cNvPr>
          <p:cNvPicPr>
            <a:picLocks noChangeAspect="1"/>
          </p:cNvPicPr>
          <p:nvPr/>
        </p:nvPicPr>
        <p:blipFill>
          <a:blip r:embed="rId5"/>
          <a:stretch>
            <a:fillRect/>
          </a:stretch>
        </p:blipFill>
        <p:spPr>
          <a:xfrm>
            <a:off x="7658100" y="3055620"/>
            <a:ext cx="1976120" cy="1457960"/>
          </a:xfrm>
          <a:prstGeom prst="rect">
            <a:avLst/>
          </a:prstGeom>
        </p:spPr>
      </p:pic>
    </p:spTree>
    <p:extLst>
      <p:ext uri="{BB962C8B-B14F-4D97-AF65-F5344CB8AC3E}">
        <p14:creationId xmlns:p14="http://schemas.microsoft.com/office/powerpoint/2010/main" val="935185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854DB7-63BF-B358-B05B-982F7B8EA943}"/>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53B3C959-E88B-53F7-1DAE-07B8D4F96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0AD7E9B2-6B23-18D1-B011-A17CD26E4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A2317499-6E9C-72B0-1D04-25C13CAADDAC}"/>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b="1" cap="all">
                <a:latin typeface="Calibri Light"/>
                <a:ea typeface="Calibri Light"/>
                <a:cs typeface="Calibri Light"/>
              </a:rPr>
              <a:t>Dimension Tables</a:t>
            </a:r>
            <a:endParaRPr lang="en-US" sz="3200" b="1" kern="1200" cap="all">
              <a:latin typeface="Calibri Light"/>
              <a:ea typeface="Calibri Light"/>
              <a:cs typeface="Calibri Light"/>
            </a:endParaRPr>
          </a:p>
          <a:p>
            <a:pPr marL="0" marR="0">
              <a:lnSpc>
                <a:spcPct val="90000"/>
              </a:lnSpc>
              <a:spcBef>
                <a:spcPct val="0"/>
              </a:spcBef>
              <a:spcAft>
                <a:spcPts val="600"/>
              </a:spcAft>
            </a:pPr>
            <a:endParaRPr lang="en-US" sz="4400" b="1" kern="1200" cap="all">
              <a:solidFill>
                <a:schemeClr val="tx1"/>
              </a:solidFill>
              <a:latin typeface="+mj-lt"/>
              <a:ea typeface="+mj-ea"/>
              <a:cs typeface="+mj-cs"/>
            </a:endParaRPr>
          </a:p>
        </p:txBody>
      </p:sp>
      <p:sp>
        <p:nvSpPr>
          <p:cNvPr id="49" name="Arc 48">
            <a:extLst>
              <a:ext uri="{FF2B5EF4-FFF2-40B4-BE49-F238E27FC236}">
                <a16:creationId xmlns:a16="http://schemas.microsoft.com/office/drawing/2014/main" id="{75C4CD93-0368-5861-1651-66C4E8CDA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00802AEB-0756-43E1-A6E8-EEA7AEE43D14}"/>
              </a:ext>
            </a:extLst>
          </p:cNvPr>
          <p:cNvSpPr txBox="1"/>
          <p:nvPr/>
        </p:nvSpPr>
        <p:spPr>
          <a:xfrm>
            <a:off x="838200" y="1825625"/>
            <a:ext cx="6512560" cy="4351338"/>
          </a:xfrm>
          <a:prstGeom prst="rect">
            <a:avLst/>
          </a:prstGeom>
        </p:spPr>
        <p:txBody>
          <a:bodyPr vert="horz" lIns="91440" tIns="45720" rIns="91440" bIns="45720" rtlCol="0" anchor="t">
            <a:normAutofit/>
          </a:bodyPr>
          <a:lstStyle/>
          <a:p>
            <a:pPr marL="285750" indent="-285750">
              <a:lnSpc>
                <a:spcPct val="90000"/>
              </a:lnSpc>
              <a:spcAft>
                <a:spcPts val="600"/>
              </a:spcAft>
              <a:buFont typeface="Arial"/>
              <a:buChar char="•"/>
            </a:pPr>
            <a:r>
              <a:rPr lang="en-US" sz="1400">
                <a:ea typeface="+mn-lt"/>
                <a:cs typeface="+mn-lt"/>
              </a:rPr>
              <a:t>Dimension tables store </a:t>
            </a:r>
            <a:r>
              <a:rPr lang="en-US" sz="1400" b="1">
                <a:ea typeface="+mn-lt"/>
                <a:cs typeface="+mn-lt"/>
              </a:rPr>
              <a:t>descriptive information</a:t>
            </a:r>
            <a:r>
              <a:rPr lang="en-US" sz="1400">
                <a:ea typeface="+mn-lt"/>
                <a:cs typeface="+mn-lt"/>
              </a:rPr>
              <a:t> such as donors, hospitals, and dates information.</a:t>
            </a:r>
            <a:endParaRPr lang="en-US">
              <a:ea typeface="Calibri" panose="020F0502020204030204"/>
              <a:cs typeface="Calibri" panose="020F0502020204030204"/>
            </a:endParaRPr>
          </a:p>
          <a:p>
            <a:endParaRPr lang="en-US" sz="1400" b="1">
              <a:ea typeface="+mn-lt"/>
              <a:cs typeface="+mn-lt"/>
            </a:endParaRPr>
          </a:p>
          <a:p>
            <a:pPr marL="285750" indent="-285750">
              <a:buFont typeface="Arial"/>
              <a:buChar char="•"/>
            </a:pPr>
            <a:r>
              <a:rPr lang="en-US" sz="1400" dirty="0">
                <a:ea typeface="+mn-lt"/>
                <a:cs typeface="+mn-lt"/>
              </a:rPr>
              <a:t>These tables provide </a:t>
            </a:r>
            <a:r>
              <a:rPr lang="en-US" sz="1400" b="1" dirty="0">
                <a:ea typeface="+mn-lt"/>
                <a:cs typeface="+mn-lt"/>
              </a:rPr>
              <a:t>additional context</a:t>
            </a:r>
            <a:r>
              <a:rPr lang="en-US" sz="1400" dirty="0">
                <a:ea typeface="+mn-lt"/>
                <a:cs typeface="+mn-lt"/>
              </a:rPr>
              <a:t> to the events stored in fact tables</a:t>
            </a:r>
            <a:r>
              <a:rPr lang="en-US" sz="1400" dirty="0">
                <a:effectLst/>
                <a:ea typeface="+mn-lt"/>
                <a:cs typeface="+mn-lt"/>
              </a:rPr>
              <a:t>.</a:t>
            </a:r>
            <a:endParaRPr lang="en-US" sz="1400" dirty="0">
              <a:ea typeface="+mn-lt"/>
              <a:cs typeface="+mn-lt"/>
            </a:endParaRPr>
          </a:p>
          <a:p>
            <a:endParaRPr lang="en-US" sz="1400">
              <a:ea typeface="+mn-lt"/>
              <a:cs typeface="+mn-lt"/>
            </a:endParaRPr>
          </a:p>
          <a:p>
            <a:pPr marL="285750" indent="-285750">
              <a:buFont typeface="Arial"/>
              <a:buChar char="•"/>
            </a:pPr>
            <a:r>
              <a:rPr lang="en-US" sz="1400" dirty="0">
                <a:ea typeface="+mn-lt"/>
                <a:cs typeface="+mn-lt"/>
              </a:rPr>
              <a:t>Snapshots (</a:t>
            </a:r>
            <a:r>
              <a:rPr lang="en-US" sz="1400" dirty="0" err="1">
                <a:ea typeface="+mn-lt"/>
                <a:cs typeface="+mn-lt"/>
              </a:rPr>
              <a:t>scd</a:t>
            </a:r>
            <a:r>
              <a:rPr lang="en-US" sz="1400" dirty="0">
                <a:ea typeface="+mn-lt"/>
                <a:cs typeface="+mn-lt"/>
              </a:rPr>
              <a:t> type-2) are created separately to track historical changes and identify data inconsistencies over time.</a:t>
            </a:r>
            <a:endParaRPr lang="en-US" dirty="0">
              <a:ea typeface="+mn-lt"/>
              <a:cs typeface="+mn-lt"/>
            </a:endParaRPr>
          </a:p>
          <a:p>
            <a:pPr>
              <a:buFont typeface="Arial"/>
              <a:buChar char="•"/>
            </a:pPr>
            <a:endParaRPr lang="en-US">
              <a:ea typeface="+mn-lt"/>
              <a:cs typeface="+mn-lt"/>
            </a:endParaRPr>
          </a:p>
          <a:p>
            <a:pPr marL="285750" indent="-285750">
              <a:buFont typeface="Arial"/>
              <a:buChar char="•"/>
            </a:pPr>
            <a:r>
              <a:rPr lang="en-US" sz="1400">
                <a:ea typeface="+mn-lt"/>
                <a:cs typeface="+mn-lt"/>
              </a:rPr>
              <a:t> This approach supports both current reporting and future historical analysis when needed.</a:t>
            </a:r>
            <a:endParaRPr lang="en-US">
              <a:ea typeface="+mn-lt"/>
              <a:cs typeface="+mn-lt"/>
            </a:endParaRPr>
          </a:p>
          <a:p>
            <a:pPr marR="0">
              <a:lnSpc>
                <a:spcPct val="90000"/>
              </a:lnSpc>
              <a:spcAft>
                <a:spcPts val="600"/>
              </a:spcAft>
            </a:pPr>
            <a:endParaRPr lang="en-US" sz="1400">
              <a:ea typeface="Calibri"/>
              <a:cs typeface="Calibri"/>
            </a:endParaRPr>
          </a:p>
        </p:txBody>
      </p:sp>
    </p:spTree>
    <p:extLst>
      <p:ext uri="{BB962C8B-B14F-4D97-AF65-F5344CB8AC3E}">
        <p14:creationId xmlns:p14="http://schemas.microsoft.com/office/powerpoint/2010/main" val="1818479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D6B7BA-389C-5DCD-FB23-760E21CAD7EC}"/>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125A97D7-A434-3BD4-F9DE-AAA0B4824F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44B0159F-A3D1-9246-0FEE-8D312461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B615DBFD-5E36-4BB5-6320-DD24292FC972}"/>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b="1" cap="all">
                <a:latin typeface="Calibri Light"/>
                <a:ea typeface="Calibri Light"/>
                <a:cs typeface="Calibri Light"/>
              </a:rPr>
              <a:t>Fact Tables</a:t>
            </a:r>
            <a:endParaRPr lang="en-US" sz="3200" b="1" kern="1200" cap="all">
              <a:latin typeface="Calibri Light"/>
              <a:ea typeface="Calibri Light"/>
              <a:cs typeface="Calibri Light"/>
            </a:endParaRPr>
          </a:p>
          <a:p>
            <a:pPr marL="0" marR="0">
              <a:lnSpc>
                <a:spcPct val="90000"/>
              </a:lnSpc>
              <a:spcBef>
                <a:spcPct val="0"/>
              </a:spcBef>
              <a:spcAft>
                <a:spcPts val="600"/>
              </a:spcAft>
            </a:pPr>
            <a:endParaRPr lang="en-US" sz="4400" b="1" kern="1200" cap="all">
              <a:solidFill>
                <a:schemeClr val="tx1"/>
              </a:solidFill>
              <a:latin typeface="+mj-lt"/>
              <a:ea typeface="+mj-ea"/>
              <a:cs typeface="+mj-cs"/>
            </a:endParaRPr>
          </a:p>
        </p:txBody>
      </p:sp>
      <p:sp>
        <p:nvSpPr>
          <p:cNvPr id="49" name="Arc 48">
            <a:extLst>
              <a:ext uri="{FF2B5EF4-FFF2-40B4-BE49-F238E27FC236}">
                <a16:creationId xmlns:a16="http://schemas.microsoft.com/office/drawing/2014/main" id="{E60F95B5-C6F6-76CA-955F-821BDEFE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85406D9F-0B83-AD14-BD62-D560B0AF1672}"/>
              </a:ext>
            </a:extLst>
          </p:cNvPr>
          <p:cNvSpPr txBox="1"/>
          <p:nvPr/>
        </p:nvSpPr>
        <p:spPr>
          <a:xfrm>
            <a:off x="838200" y="1689554"/>
            <a:ext cx="6281058" cy="4487409"/>
          </a:xfrm>
          <a:prstGeom prst="rect">
            <a:avLst/>
          </a:prstGeom>
        </p:spPr>
        <p:txBody>
          <a:bodyPr vert="horz" lIns="91440" tIns="45720" rIns="91440" bIns="45720" rtlCol="0" anchor="t">
            <a:normAutofit/>
          </a:bodyPr>
          <a:lstStyle/>
          <a:p>
            <a:pPr marL="285750" indent="-285750">
              <a:buFont typeface="Arial"/>
              <a:buChar char="•"/>
            </a:pPr>
            <a:r>
              <a:rPr lang="en-US" sz="1400">
                <a:ea typeface="+mn-lt"/>
                <a:cs typeface="+mn-lt"/>
              </a:rPr>
              <a:t>Fact tables store</a:t>
            </a:r>
            <a:r>
              <a:rPr lang="en-US" sz="1400" b="1">
                <a:ea typeface="+mn-lt"/>
                <a:cs typeface="+mn-lt"/>
              </a:rPr>
              <a:t> measurable</a:t>
            </a:r>
            <a:r>
              <a:rPr lang="en-US" sz="1400">
                <a:ea typeface="+mn-lt"/>
                <a:cs typeface="+mn-lt"/>
              </a:rPr>
              <a:t> </a:t>
            </a:r>
            <a:r>
              <a:rPr lang="en-US" sz="1400" b="1">
                <a:ea typeface="+mn-lt"/>
                <a:cs typeface="+mn-lt"/>
              </a:rPr>
              <a:t>events </a:t>
            </a:r>
            <a:r>
              <a:rPr lang="en-US" sz="1400">
                <a:ea typeface="+mn-lt"/>
                <a:cs typeface="+mn-lt"/>
              </a:rPr>
              <a:t>that happen in the system, such as donations, blood tests, and hospital requests</a:t>
            </a:r>
            <a:r>
              <a:rPr lang="en-US" sz="1400">
                <a:effectLst/>
                <a:ea typeface="+mn-lt"/>
                <a:cs typeface="+mn-lt"/>
              </a:rPr>
              <a:t>.</a:t>
            </a:r>
            <a:endParaRPr lang="en-US" sz="1400" b="1">
              <a:ea typeface="+mn-lt"/>
              <a:cs typeface="+mn-lt"/>
            </a:endParaRPr>
          </a:p>
          <a:p>
            <a:endParaRPr lang="en-US" sz="1400">
              <a:ea typeface="+mn-lt"/>
              <a:cs typeface="+mn-lt"/>
            </a:endParaRPr>
          </a:p>
          <a:p>
            <a:pPr marL="285750" indent="-285750">
              <a:buFont typeface="Arial"/>
              <a:buChar char="•"/>
            </a:pPr>
            <a:r>
              <a:rPr lang="en-US" sz="1400">
                <a:ea typeface="+mn-lt"/>
                <a:cs typeface="+mn-lt"/>
              </a:rPr>
              <a:t>Fact tables are connected with dimension tables to add more details like donor, recipient and date.</a:t>
            </a:r>
          </a:p>
          <a:p>
            <a:pPr>
              <a:buFont typeface="Arial" panose="020B0604020202020204" pitchFamily="34" charset="0"/>
              <a:buChar char="•"/>
            </a:pPr>
            <a:endParaRPr lang="en-US" sz="1400">
              <a:ea typeface="+mn-lt"/>
              <a:cs typeface="+mn-lt"/>
            </a:endParaRPr>
          </a:p>
          <a:p>
            <a:pPr marL="285750" indent="-285750">
              <a:buFont typeface="Arial"/>
              <a:buChar char="•"/>
            </a:pPr>
            <a:r>
              <a:rPr lang="en-US" sz="1400">
                <a:ea typeface="+mn-lt"/>
                <a:cs typeface="+mn-lt"/>
              </a:rPr>
              <a:t>Fact tables were built using an </a:t>
            </a:r>
            <a:r>
              <a:rPr lang="en-US" sz="1400" b="1">
                <a:ea typeface="+mn-lt"/>
                <a:cs typeface="+mn-lt"/>
              </a:rPr>
              <a:t>incremental approach</a:t>
            </a:r>
            <a:r>
              <a:rPr lang="en-US" sz="1400">
                <a:ea typeface="+mn-lt"/>
                <a:cs typeface="+mn-lt"/>
              </a:rPr>
              <a:t>, where only new or changed records are processed.</a:t>
            </a:r>
          </a:p>
          <a:p>
            <a:endParaRPr lang="en-US" sz="1400">
              <a:ea typeface="+mn-lt"/>
              <a:cs typeface="+mn-lt"/>
            </a:endParaRPr>
          </a:p>
          <a:p>
            <a:pPr marL="285750" indent="-285750">
              <a:buFont typeface="Arial"/>
              <a:buChar char="•"/>
            </a:pPr>
            <a:r>
              <a:rPr lang="en-US" sz="1400">
                <a:ea typeface="+mn-lt"/>
                <a:cs typeface="+mn-lt"/>
              </a:rPr>
              <a:t>This approach helps avoid reprocessing the entire dataset and improves performance.</a:t>
            </a:r>
            <a:endParaRPr lang="en-US" sz="1400">
              <a:ea typeface="Calibri"/>
              <a:cs typeface="Calibri"/>
            </a:endParaRPr>
          </a:p>
          <a:p>
            <a:pPr>
              <a:buFont typeface="Arial" panose="020B0604020202020204" pitchFamily="34" charset="0"/>
              <a:buChar char="•"/>
            </a:pPr>
            <a:endParaRPr lang="en-US" sz="1400" b="1">
              <a:ea typeface="+mn-lt"/>
              <a:cs typeface="+mn-lt"/>
            </a:endParaRPr>
          </a:p>
          <a:p>
            <a:endParaRPr lang="en-US" sz="1400">
              <a:ea typeface="+mn-lt"/>
              <a:cs typeface="+mn-lt"/>
            </a:endParaRPr>
          </a:p>
        </p:txBody>
      </p:sp>
    </p:spTree>
    <p:extLst>
      <p:ext uri="{BB962C8B-B14F-4D97-AF65-F5344CB8AC3E}">
        <p14:creationId xmlns:p14="http://schemas.microsoft.com/office/powerpoint/2010/main" val="1527669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C9117D-3351-ED50-0BC3-C5E7A3AF7F60}"/>
            </a:ext>
          </a:extLst>
        </p:cNvPr>
        <p:cNvGrpSpPr/>
        <p:nvPr/>
      </p:nvGrpSpPr>
      <p:grpSpPr>
        <a:xfrm>
          <a:off x="0" y="0"/>
          <a:ext cx="0" cy="0"/>
          <a:chOff x="0" y="0"/>
          <a:chExt cx="0" cy="0"/>
        </a:xfrm>
      </p:grpSpPr>
      <p:sp useBgFill="1">
        <p:nvSpPr>
          <p:cNvPr id="118" name="Rectangle 117">
            <a:extLst>
              <a:ext uri="{FF2B5EF4-FFF2-40B4-BE49-F238E27FC236}">
                <a16:creationId xmlns:a16="http://schemas.microsoft.com/office/drawing/2014/main" id="{EC36EF00-E972-8105-7128-2A1B6E3229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Shape 119">
            <a:extLst>
              <a:ext uri="{FF2B5EF4-FFF2-40B4-BE49-F238E27FC236}">
                <a16:creationId xmlns:a16="http://schemas.microsoft.com/office/drawing/2014/main" id="{8E54D1FE-5ACF-65EB-289A-31AA660B7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c 121">
            <a:extLst>
              <a:ext uri="{FF2B5EF4-FFF2-40B4-BE49-F238E27FC236}">
                <a16:creationId xmlns:a16="http://schemas.microsoft.com/office/drawing/2014/main" id="{3FF8A0BF-FF89-07FB-7135-968C51A7B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18F60A46-52AD-9D48-FB38-C2367FDAE29F}"/>
              </a:ext>
            </a:extLst>
          </p:cNvPr>
          <p:cNvSpPr txBox="1"/>
          <p:nvPr/>
        </p:nvSpPr>
        <p:spPr>
          <a:xfrm>
            <a:off x="4447308" y="591344"/>
            <a:ext cx="6906491" cy="558561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pPr>
            <a:r>
              <a:rPr lang="en-US" sz="3200" b="1">
                <a:latin typeface="Calibri Light"/>
                <a:ea typeface="Calibri Light"/>
                <a:cs typeface="Calibri Light"/>
              </a:rPr>
              <a:t>ANALYTICAL INSIGHTS </a:t>
            </a:r>
            <a:endParaRPr lang="en-US"/>
          </a:p>
        </p:txBody>
      </p:sp>
    </p:spTree>
    <p:extLst>
      <p:ext uri="{BB962C8B-B14F-4D97-AF65-F5344CB8AC3E}">
        <p14:creationId xmlns:p14="http://schemas.microsoft.com/office/powerpoint/2010/main" val="3098128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FE85AD-FBE6-FC16-4137-D2395479B22E}"/>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9D3D4DB-E0E0-A57B-ABA9-CF5B7F25E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42D4411-1AF5-EAB7-BE1F-79212D037F7F}"/>
              </a:ext>
            </a:extLst>
          </p:cNvPr>
          <p:cNvSpPr txBox="1"/>
          <p:nvPr/>
        </p:nvSpPr>
        <p:spPr>
          <a:xfrm>
            <a:off x="635195" y="661710"/>
            <a:ext cx="4862646" cy="248786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200" b="1" cap="all">
                <a:latin typeface="Calibri Light"/>
                <a:ea typeface="Calibri Light"/>
                <a:cs typeface="Calibri Light"/>
              </a:rPr>
              <a:t>monthly donation trends</a:t>
            </a:r>
          </a:p>
          <a:p>
            <a:pPr marL="0" marR="0">
              <a:lnSpc>
                <a:spcPct val="90000"/>
              </a:lnSpc>
              <a:spcBef>
                <a:spcPct val="0"/>
              </a:spcBef>
              <a:spcAft>
                <a:spcPts val="600"/>
              </a:spcAft>
            </a:pPr>
            <a:endParaRPr lang="en-US" sz="4000" b="1" cap="all">
              <a:latin typeface="+mj-lt"/>
              <a:ea typeface="Calibri Light"/>
              <a:cs typeface="Calibri Light"/>
            </a:endParaRPr>
          </a:p>
        </p:txBody>
      </p:sp>
      <p:sp>
        <p:nvSpPr>
          <p:cNvPr id="29" name="sketchy line">
            <a:extLst>
              <a:ext uri="{FF2B5EF4-FFF2-40B4-BE49-F238E27FC236}">
                <a16:creationId xmlns:a16="http://schemas.microsoft.com/office/drawing/2014/main" id="{011526E8-69A6-FE27-2B05-70C7D685B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94DE6C1-1D56-56E7-4E79-59E29B8B16CF}"/>
              </a:ext>
            </a:extLst>
          </p:cNvPr>
          <p:cNvSpPr txBox="1"/>
          <p:nvPr/>
        </p:nvSpPr>
        <p:spPr>
          <a:xfrm>
            <a:off x="640080" y="2872899"/>
            <a:ext cx="4524803" cy="3320668"/>
          </a:xfrm>
          <a:prstGeom prst="rect">
            <a:avLst/>
          </a:prstGeom>
        </p:spPr>
        <p:txBody>
          <a:bodyPr vert="horz" lIns="91440" tIns="45720" rIns="91440" bIns="45720" rtlCol="0" anchor="t">
            <a:normAutofit/>
          </a:bodyPr>
          <a:lstStyle/>
          <a:p>
            <a:pPr>
              <a:buFont typeface="Arial"/>
              <a:buChar char="•"/>
            </a:pPr>
            <a:r>
              <a:rPr lang="en-US" sz="1600" b="1">
                <a:ea typeface="+mn-lt"/>
                <a:cs typeface="+mn-lt"/>
              </a:rPr>
              <a:t>   </a:t>
            </a:r>
            <a:r>
              <a:rPr lang="en-US" sz="1400" b="1">
                <a:ea typeface="+mn-lt"/>
                <a:cs typeface="+mn-lt"/>
              </a:rPr>
              <a:t>Trend Analysis</a:t>
            </a:r>
            <a:br>
              <a:rPr lang="en-US" sz="1400" b="1">
                <a:ea typeface="+mn-lt"/>
                <a:cs typeface="+mn-lt"/>
              </a:rPr>
            </a:br>
            <a:r>
              <a:rPr lang="en-US" sz="1400" b="1">
                <a:ea typeface="+mn-lt"/>
                <a:cs typeface="+mn-lt"/>
              </a:rPr>
              <a:t>     </a:t>
            </a:r>
            <a:r>
              <a:rPr lang="en-US" sz="1400">
                <a:ea typeface="+mn-lt"/>
                <a:cs typeface="+mn-lt"/>
              </a:rPr>
              <a:t>Tracks donation volume across months</a:t>
            </a:r>
            <a:r>
              <a:rPr lang="en-US" sz="1400">
                <a:effectLst/>
                <a:ea typeface="+mn-lt"/>
                <a:cs typeface="+mn-lt"/>
              </a:rPr>
              <a:t>.</a:t>
            </a:r>
            <a:endParaRPr lang="en-US" sz="1400">
              <a:ea typeface="+mn-lt"/>
              <a:cs typeface="+mn-lt"/>
            </a:endParaRPr>
          </a:p>
          <a:p>
            <a:pPr>
              <a:buFont typeface="Arial"/>
              <a:buChar char="•"/>
            </a:pPr>
            <a:endParaRPr lang="en-US" sz="1400" b="1">
              <a:ea typeface="+mn-lt"/>
              <a:cs typeface="+mn-lt"/>
            </a:endParaRPr>
          </a:p>
          <a:p>
            <a:pPr>
              <a:buFont typeface="Arial"/>
              <a:buChar char="•"/>
            </a:pPr>
            <a:r>
              <a:rPr lang="en-US" sz="1400" b="1">
                <a:ea typeface="+mn-lt"/>
                <a:cs typeface="+mn-lt"/>
              </a:rPr>
              <a:t>   Blood Group Comparison  </a:t>
            </a:r>
          </a:p>
          <a:p>
            <a:r>
              <a:rPr lang="en-US" sz="1400">
                <a:ea typeface="+mn-lt"/>
                <a:cs typeface="+mn-lt"/>
              </a:rPr>
              <a:t> Shows contribution of each blood type.</a:t>
            </a:r>
            <a:endParaRPr lang="en-US">
              <a:ea typeface="Calibri" panose="020F0502020204030204"/>
              <a:cs typeface="Calibri" panose="020F0502020204030204"/>
            </a:endParaRPr>
          </a:p>
          <a:p>
            <a:pPr>
              <a:buFont typeface="Arial"/>
              <a:buChar char="•"/>
            </a:pPr>
            <a:endParaRPr lang="en-US" sz="1400" b="1">
              <a:ea typeface="+mn-lt"/>
              <a:cs typeface="+mn-lt"/>
            </a:endParaRPr>
          </a:p>
          <a:p>
            <a:pPr>
              <a:buFont typeface="Arial"/>
              <a:buChar char="•"/>
            </a:pPr>
            <a:r>
              <a:rPr lang="en-US" sz="1400" b="1">
                <a:ea typeface="+mn-lt"/>
                <a:cs typeface="+mn-lt"/>
              </a:rPr>
              <a:t>   Identifying Patterns</a:t>
            </a:r>
            <a:br>
              <a:rPr lang="en-US" sz="1400" b="1">
                <a:ea typeface="+mn-lt"/>
                <a:cs typeface="+mn-lt"/>
              </a:rPr>
            </a:br>
            <a:r>
              <a:rPr lang="en-US" sz="1400">
                <a:ea typeface="+mn-lt"/>
                <a:cs typeface="+mn-lt"/>
              </a:rPr>
              <a:t> Highlights months with higher or lower donations</a:t>
            </a:r>
            <a:r>
              <a:rPr lang="en-US" sz="1400">
                <a:effectLst/>
                <a:ea typeface="+mn-lt"/>
                <a:cs typeface="+mn-lt"/>
              </a:rPr>
              <a:t>.</a:t>
            </a:r>
            <a:endParaRPr lang="en-US" sz="1400">
              <a:ea typeface="+mn-lt"/>
              <a:cs typeface="+mn-lt"/>
            </a:endParaRPr>
          </a:p>
          <a:p>
            <a:endParaRPr lang="en-US" sz="1400" b="1">
              <a:ea typeface="+mn-lt"/>
              <a:cs typeface="+mn-lt"/>
            </a:endParaRPr>
          </a:p>
          <a:p>
            <a:pPr>
              <a:buFont typeface="Arial"/>
              <a:buChar char="•"/>
            </a:pPr>
            <a:r>
              <a:rPr lang="en-US" sz="1400" b="1">
                <a:ea typeface="+mn-lt"/>
                <a:cs typeface="+mn-lt"/>
              </a:rPr>
              <a:t>   Planning Campaigns</a:t>
            </a:r>
            <a:br>
              <a:rPr lang="en-US" sz="1400" b="1">
                <a:ea typeface="+mn-lt"/>
                <a:cs typeface="+mn-lt"/>
              </a:rPr>
            </a:br>
            <a:r>
              <a:rPr lang="en-US" sz="1400" b="1">
                <a:ea typeface="+mn-lt"/>
                <a:cs typeface="+mn-lt"/>
              </a:rPr>
              <a:t> </a:t>
            </a:r>
            <a:r>
              <a:rPr lang="en-US" sz="1400">
                <a:ea typeface="+mn-lt"/>
                <a:cs typeface="+mn-lt"/>
              </a:rPr>
              <a:t>Helps plan donation drives based on trends.</a:t>
            </a:r>
            <a:endParaRPr lang="en-US" sz="1400">
              <a:ea typeface="Calibri"/>
              <a:cs typeface="Calibri"/>
            </a:endParaRPr>
          </a:p>
          <a:p>
            <a:pPr marL="285750" indent="-285750">
              <a:buFont typeface="Arial,Sans-Serif"/>
              <a:buChar char="•"/>
            </a:pPr>
            <a:endParaRPr lang="en-US" sz="1400">
              <a:ea typeface="+mn-lt"/>
              <a:cs typeface="+mn-lt"/>
            </a:endParaRPr>
          </a:p>
          <a:p>
            <a:pPr marL="285750" indent="-285750">
              <a:buFont typeface="Arial"/>
              <a:buChar char="•"/>
            </a:pPr>
            <a:endParaRPr lang="en-US" sz="1600">
              <a:ea typeface="+mn-lt"/>
              <a:cs typeface="+mn-lt"/>
            </a:endParaRPr>
          </a:p>
          <a:p>
            <a:pPr marL="285750" indent="-285750">
              <a:buFont typeface="Arial"/>
              <a:buChar char="•"/>
            </a:pPr>
            <a:endParaRPr lang="en-US" sz="1600">
              <a:ea typeface="+mn-lt"/>
              <a:cs typeface="+mn-lt"/>
            </a:endParaRPr>
          </a:p>
          <a:p>
            <a:pPr>
              <a:lnSpc>
                <a:spcPct val="90000"/>
              </a:lnSpc>
              <a:spcAft>
                <a:spcPts val="600"/>
              </a:spcAft>
            </a:pPr>
            <a:endParaRPr lang="en-US" sz="1200" b="1">
              <a:ea typeface="+mn-lt"/>
              <a:cs typeface="+mn-lt"/>
            </a:endParaRPr>
          </a:p>
          <a:p>
            <a:pPr marL="0" marR="0" indent="-228600">
              <a:lnSpc>
                <a:spcPct val="90000"/>
              </a:lnSpc>
              <a:spcAft>
                <a:spcPts val="600"/>
              </a:spcAft>
              <a:buFont typeface="Arial" panose="020B0604020202020204" pitchFamily="34" charset="0"/>
              <a:buChar char="•"/>
            </a:pPr>
            <a:endParaRPr lang="en-US" sz="1200"/>
          </a:p>
        </p:txBody>
      </p:sp>
      <p:pic>
        <p:nvPicPr>
          <p:cNvPr id="10" name="Picture 9">
            <a:extLst>
              <a:ext uri="{FF2B5EF4-FFF2-40B4-BE49-F238E27FC236}">
                <a16:creationId xmlns:a16="http://schemas.microsoft.com/office/drawing/2014/main" id="{B8452847-4A85-7EA8-77CC-9106529B28CA}"/>
              </a:ext>
            </a:extLst>
          </p:cNvPr>
          <p:cNvPicPr>
            <a:picLocks noChangeAspect="1"/>
          </p:cNvPicPr>
          <p:nvPr/>
        </p:nvPicPr>
        <p:blipFill>
          <a:blip r:embed="rId3"/>
          <a:stretch>
            <a:fillRect/>
          </a:stretch>
        </p:blipFill>
        <p:spPr>
          <a:xfrm>
            <a:off x="5008109" y="1903638"/>
            <a:ext cx="6900183" cy="3507924"/>
          </a:xfrm>
          <a:prstGeom prst="rect">
            <a:avLst/>
          </a:prstGeom>
        </p:spPr>
      </p:pic>
    </p:spTree>
    <p:extLst>
      <p:ext uri="{BB962C8B-B14F-4D97-AF65-F5344CB8AC3E}">
        <p14:creationId xmlns:p14="http://schemas.microsoft.com/office/powerpoint/2010/main" val="780875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4B26F6-63EF-243E-C20C-F2FE4BE9B0F8}"/>
            </a:ext>
          </a:extLst>
        </p:cNvPr>
        <p:cNvGrpSpPr/>
        <p:nvPr/>
      </p:nvGrpSpPr>
      <p:grpSpPr>
        <a:xfrm>
          <a:off x="0" y="0"/>
          <a:ext cx="0" cy="0"/>
          <a:chOff x="0" y="0"/>
          <a:chExt cx="0" cy="0"/>
        </a:xfrm>
      </p:grpSpPr>
      <p:sp useBgFill="1">
        <p:nvSpPr>
          <p:cNvPr id="118" name="Rectangle 117">
            <a:extLst>
              <a:ext uri="{FF2B5EF4-FFF2-40B4-BE49-F238E27FC236}">
                <a16:creationId xmlns:a16="http://schemas.microsoft.com/office/drawing/2014/main" id="{CF67779B-3232-6A2D-A402-96DB75072C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Shape 119">
            <a:extLst>
              <a:ext uri="{FF2B5EF4-FFF2-40B4-BE49-F238E27FC236}">
                <a16:creationId xmlns:a16="http://schemas.microsoft.com/office/drawing/2014/main" id="{5BD0E8D6-1BED-2546-E361-CCD5C370D5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c 121">
            <a:extLst>
              <a:ext uri="{FF2B5EF4-FFF2-40B4-BE49-F238E27FC236}">
                <a16:creationId xmlns:a16="http://schemas.microsoft.com/office/drawing/2014/main" id="{8910B2D5-95A9-A63B-E743-9263F79E9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50ABE0C6-38F1-070D-024B-E6E3DEBD56D5}"/>
              </a:ext>
            </a:extLst>
          </p:cNvPr>
          <p:cNvSpPr txBox="1"/>
          <p:nvPr/>
        </p:nvSpPr>
        <p:spPr>
          <a:xfrm>
            <a:off x="4447308" y="591344"/>
            <a:ext cx="6906491" cy="558561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pPr>
            <a:r>
              <a:rPr lang="en-US" sz="3200" b="1">
                <a:latin typeface="Calibri Light"/>
                <a:ea typeface="Calibri Light"/>
                <a:cs typeface="Calibri Light"/>
              </a:rPr>
              <a:t>CONCLUSION</a:t>
            </a:r>
            <a:endParaRPr lang="en-US"/>
          </a:p>
        </p:txBody>
      </p:sp>
    </p:spTree>
    <p:extLst>
      <p:ext uri="{BB962C8B-B14F-4D97-AF65-F5344CB8AC3E}">
        <p14:creationId xmlns:p14="http://schemas.microsoft.com/office/powerpoint/2010/main" val="531877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01D22F-3D2D-D612-4407-540A8A4483E0}"/>
            </a:ext>
          </a:extLst>
        </p:cNvPr>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45EE81A1-CEA6-A693-4203-D6F740A4B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B6A328C3-B69B-8BB8-9B16-5DDA0F6AD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198AFD29-9109-E45E-0276-E91B6B46B73E}"/>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cap="all">
                <a:latin typeface="Calibri"/>
                <a:ea typeface="Calibri"/>
                <a:cs typeface="Calibri"/>
              </a:rPr>
              <a:t>CONCLUSION</a:t>
            </a:r>
            <a:endParaRPr lang="en-US" sz="3200" cap="all">
              <a:ea typeface="Calibri"/>
              <a:cs typeface="Calibri"/>
            </a:endParaRPr>
          </a:p>
        </p:txBody>
      </p:sp>
      <p:sp>
        <p:nvSpPr>
          <p:cNvPr id="49" name="Arc 48">
            <a:extLst>
              <a:ext uri="{FF2B5EF4-FFF2-40B4-BE49-F238E27FC236}">
                <a16:creationId xmlns:a16="http://schemas.microsoft.com/office/drawing/2014/main" id="{93B00754-DF56-9793-EA9F-D75EDC5BF6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8661DF71-9727-35A3-113F-0DE0F0BBCF20}"/>
              </a:ext>
            </a:extLst>
          </p:cNvPr>
          <p:cNvSpPr txBox="1"/>
          <p:nvPr/>
        </p:nvSpPr>
        <p:spPr>
          <a:xfrm>
            <a:off x="838200" y="1825625"/>
            <a:ext cx="5562601" cy="4351338"/>
          </a:xfrm>
          <a:prstGeom prst="rect">
            <a:avLst/>
          </a:prstGeom>
        </p:spPr>
        <p:txBody>
          <a:bodyPr vert="horz" lIns="91440" tIns="45720" rIns="91440" bIns="45720" rtlCol="0" anchor="t">
            <a:normAutofit/>
          </a:bodyPr>
          <a:lstStyle/>
          <a:p>
            <a:pPr>
              <a:buFont typeface="Arial" panose="020B0604020202020204" pitchFamily="34" charset="0"/>
              <a:buChar char="•"/>
            </a:pPr>
            <a:r>
              <a:rPr lang="en-US" sz="1600" b="1">
                <a:ea typeface="+mn-lt"/>
                <a:cs typeface="+mn-lt"/>
              </a:rPr>
              <a:t>  </a:t>
            </a:r>
            <a:r>
              <a:rPr lang="en-US" sz="1400" b="1">
                <a:ea typeface="+mn-lt"/>
                <a:cs typeface="+mn-lt"/>
              </a:rPr>
              <a:t> Structured Data Pipeline</a:t>
            </a:r>
            <a:br>
              <a:rPr lang="en-US" sz="1400" b="1">
                <a:ea typeface="+mn-lt"/>
                <a:cs typeface="+mn-lt"/>
              </a:rPr>
            </a:br>
            <a:r>
              <a:rPr lang="en-US" sz="1400" b="1">
                <a:ea typeface="+mn-lt"/>
                <a:cs typeface="+mn-lt"/>
              </a:rPr>
              <a:t> </a:t>
            </a:r>
            <a:r>
              <a:rPr lang="en-US" sz="1400">
                <a:ea typeface="+mn-lt"/>
                <a:cs typeface="+mn-lt"/>
              </a:rPr>
              <a:t>Transformed operational data into analytics-ready datasets</a:t>
            </a:r>
            <a:r>
              <a:rPr lang="en-US" sz="1400">
                <a:effectLst/>
                <a:ea typeface="+mn-lt"/>
                <a:cs typeface="+mn-lt"/>
              </a:rPr>
              <a:t>.</a:t>
            </a:r>
            <a:endParaRPr lang="en-US" sz="1400">
              <a:ea typeface="+mn-lt"/>
              <a:cs typeface="+mn-lt"/>
            </a:endParaRPr>
          </a:p>
          <a:p>
            <a:pPr>
              <a:buFont typeface="Arial" panose="020B0604020202020204" pitchFamily="34" charset="0"/>
              <a:buChar char="•"/>
            </a:pPr>
            <a:endParaRPr lang="en-US" sz="1400">
              <a:ea typeface="+mn-lt"/>
              <a:cs typeface="+mn-lt"/>
            </a:endParaRPr>
          </a:p>
          <a:p>
            <a:pPr>
              <a:buFont typeface="Arial" panose="020B0604020202020204" pitchFamily="34" charset="0"/>
              <a:buChar char="•"/>
            </a:pPr>
            <a:r>
              <a:rPr lang="en-US" sz="1400" b="1">
                <a:ea typeface="+mn-lt"/>
                <a:cs typeface="+mn-lt"/>
              </a:rPr>
              <a:t>   Reliable Data Models</a:t>
            </a:r>
            <a:br>
              <a:rPr lang="en-US" sz="1400" b="1">
                <a:ea typeface="+mn-lt"/>
                <a:cs typeface="+mn-lt"/>
              </a:rPr>
            </a:br>
            <a:r>
              <a:rPr lang="en-US" sz="1400" b="1">
                <a:ea typeface="+mn-lt"/>
                <a:cs typeface="+mn-lt"/>
              </a:rPr>
              <a:t> </a:t>
            </a:r>
            <a:r>
              <a:rPr lang="en-US" sz="1400">
                <a:ea typeface="+mn-lt"/>
                <a:cs typeface="+mn-lt"/>
              </a:rPr>
              <a:t>Fact and dimension tables support reporting needs.</a:t>
            </a:r>
          </a:p>
          <a:p>
            <a:pPr>
              <a:buFont typeface="Arial" panose="020B0604020202020204" pitchFamily="34" charset="0"/>
              <a:buChar char="•"/>
            </a:pPr>
            <a:endParaRPr lang="en-US" sz="1400">
              <a:ea typeface="+mn-lt"/>
              <a:cs typeface="+mn-lt"/>
            </a:endParaRPr>
          </a:p>
          <a:p>
            <a:pPr>
              <a:buFont typeface="Arial" panose="020B0604020202020204" pitchFamily="34" charset="0"/>
              <a:buChar char="•"/>
            </a:pPr>
            <a:r>
              <a:rPr lang="en-US" sz="1400" b="1">
                <a:ea typeface="+mn-lt"/>
                <a:cs typeface="+mn-lt"/>
              </a:rPr>
              <a:t>   Actionable Insights</a:t>
            </a:r>
            <a:br>
              <a:rPr lang="en-US" sz="1400" b="1">
                <a:ea typeface="+mn-lt"/>
                <a:cs typeface="+mn-lt"/>
              </a:rPr>
            </a:br>
            <a:r>
              <a:rPr lang="en-US" sz="1400">
                <a:ea typeface="+mn-lt"/>
                <a:cs typeface="+mn-lt"/>
              </a:rPr>
              <a:t> Reports help understand donors, inventory, and demand patterns.</a:t>
            </a:r>
          </a:p>
          <a:p>
            <a:pPr>
              <a:buFont typeface="Arial" panose="020B0604020202020204" pitchFamily="34" charset="0"/>
              <a:buChar char="•"/>
            </a:pPr>
            <a:endParaRPr lang="en-US" sz="1400" b="1">
              <a:ea typeface="+mn-lt"/>
              <a:cs typeface="+mn-lt"/>
            </a:endParaRPr>
          </a:p>
          <a:p>
            <a:pPr>
              <a:buFont typeface="Arial" panose="020B0604020202020204" pitchFamily="34" charset="0"/>
              <a:buChar char="•"/>
            </a:pPr>
            <a:r>
              <a:rPr lang="en-US" sz="1400" b="1">
                <a:ea typeface="+mn-lt"/>
                <a:cs typeface="+mn-lt"/>
              </a:rPr>
              <a:t>   Better Decision Making</a:t>
            </a:r>
            <a:br>
              <a:rPr lang="en-US" sz="1400" b="1">
                <a:ea typeface="+mn-lt"/>
                <a:cs typeface="+mn-lt"/>
              </a:rPr>
            </a:br>
            <a:r>
              <a:rPr lang="en-US" sz="1400" b="1">
                <a:ea typeface="+mn-lt"/>
                <a:cs typeface="+mn-lt"/>
              </a:rPr>
              <a:t> </a:t>
            </a:r>
            <a:r>
              <a:rPr lang="en-US" sz="1400">
                <a:ea typeface="+mn-lt"/>
                <a:cs typeface="+mn-lt"/>
              </a:rPr>
              <a:t>Enables data-driven strategies for blood donation management.</a:t>
            </a:r>
          </a:p>
          <a:p>
            <a:pPr>
              <a:buFont typeface="Arial" panose="020B0604020202020204" pitchFamily="34" charset="0"/>
              <a:buChar char="•"/>
            </a:pPr>
            <a:endParaRPr lang="en-US" sz="1400" b="1">
              <a:ea typeface="+mn-lt"/>
              <a:cs typeface="+mn-lt"/>
            </a:endParaRPr>
          </a:p>
          <a:p>
            <a:endParaRPr lang="en-US" sz="1400">
              <a:ea typeface="Calibri"/>
              <a:cs typeface="Calibri"/>
            </a:endParaRPr>
          </a:p>
          <a:p>
            <a:endParaRPr lang="en-US" sz="1400">
              <a:ea typeface="+mn-lt"/>
              <a:cs typeface="+mn-lt"/>
            </a:endParaRPr>
          </a:p>
          <a:p>
            <a:pPr marL="171450" indent="-228600">
              <a:lnSpc>
                <a:spcPct val="90000"/>
              </a:lnSpc>
              <a:spcAft>
                <a:spcPts val="600"/>
              </a:spcAft>
              <a:buFont typeface="Arial" panose="020B0604020202020204" pitchFamily="34" charset="0"/>
              <a:buChar char="•"/>
            </a:pPr>
            <a:endParaRPr lang="en-US" sz="1600">
              <a:ea typeface="Calibri"/>
              <a:cs typeface="Calibri"/>
            </a:endParaRPr>
          </a:p>
          <a:p>
            <a:pPr marL="0" marR="0">
              <a:lnSpc>
                <a:spcPct val="90000"/>
              </a:lnSpc>
              <a:spcAft>
                <a:spcPts val="600"/>
              </a:spcAft>
            </a:pPr>
            <a:endParaRPr lang="en-US" sz="1600">
              <a:ea typeface="Calibri"/>
              <a:cs typeface="Calibri"/>
            </a:endParaRPr>
          </a:p>
        </p:txBody>
      </p:sp>
    </p:spTree>
    <p:extLst>
      <p:ext uri="{BB962C8B-B14F-4D97-AF65-F5344CB8AC3E}">
        <p14:creationId xmlns:p14="http://schemas.microsoft.com/office/powerpoint/2010/main" val="2562785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13</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dhanalakshmi.karri@yottatechports.com</dc:creator>
  <cp:revision>128</cp:revision>
  <dcterms:modified xsi:type="dcterms:W3CDTF">2026-04-24T12:26:02Z</dcterms:modified>
</cp:coreProperties>
</file>